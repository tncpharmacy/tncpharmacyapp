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the platform is on a stable footing. Environments are separated, deployment is controlled, and the security problem on the old production server is resolved. The rest of the deck covers what shipped, what is in flight,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contrast at the bottom. Before this work there was a single server doing everything, deployments were manual, and there was no safe way to test a change. That is what allowed the security incident to go unnoticed.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phase currently underway. Point out that WhatsApp is not a new vendor decision — the integration already exists and is live for order events; we are extending it across the order lifecycle. The support module is the one that reduces operational load most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is unglamorous but non-negotiable: order amounts are currently stored as text, which cannot be reconciled against a payment gateway. It ships alone. Stages 2 to 4 build the money and delivery paths independently. Stage 5 is where prescription approval meets payment — deliberately last, so a problem there is a problem in the join, not in the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Bulk upload is the higher-certainty item and unblocks the commercial team immediately — it is not dependent on anything in Phase 1. WhatsApp buying is the larger opportunity but strictly downstream of payments; be clear about that dependency so it does not get promised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decisions I am taking, not asks. Each one is a live comparison rather than a preference. A is the only item with calendar risk — gateway approval for a pharmacy merchant category takes weeks, so I want to start onboarding with the leading candidate while the comparison finishes. D depends on a fact we are still confirming with the gateways: whether UPI supports a hold, since UPI will be most of our volume. The regulatory work in the footer is running in parallel and needs a named owner outside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E"/>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548640" y="530352"/>
            <a:ext cx="2148840" cy="724980"/>
          </a:xfrm>
          <a:prstGeom prst="rect">
            <a:avLst/>
          </a:prstGeom>
        </p:spPr>
      </p:pic>
      <p:sp>
        <p:nvSpPr>
          <p:cNvPr id="3" name="Text 0"/>
          <p:cNvSpPr txBox="1"/>
          <p:nvPr/>
        </p:nvSpPr>
        <p:spPr>
          <a:xfrm>
            <a:off x="548640" y="1572768"/>
            <a:ext cx="5486400" cy="274320"/>
          </a:xfrm>
          <a:prstGeom prst="rect">
            <a:avLst/>
          </a:prstGeom>
          <a:noFill/>
          <a:ln/>
        </p:spPr>
        <p:txBody>
          <a:bodyPr wrap="square" lIns="0" tIns="0" rIns="0" bIns="0" rtlCol="0" anchor="ctr"/>
          <a:lstStyle/>
          <a:p>
            <a:pPr indent="0" marL="0">
              <a:buNone/>
            </a:pPr>
            <a:r>
              <a:rPr lang="en-US" sz="1200" b="1" spc="300" kern="0" dirty="0">
                <a:solidFill>
                  <a:srgbClr val="FF9838"/>
                </a:solidFill>
                <a:latin typeface="Calibri" pitchFamily="34" charset="0"/>
                <a:ea typeface="Calibri" pitchFamily="34" charset="-122"/>
                <a:cs typeface="Calibri" pitchFamily="34" charset="-120"/>
              </a:rPr>
              <a:t>ENGINEERING REVIEW</a:t>
            </a:r>
            <a:endParaRPr lang="en-US" sz="1200" dirty="0"/>
          </a:p>
        </p:txBody>
      </p:sp>
      <p:sp>
        <p:nvSpPr>
          <p:cNvPr id="4" name="Text 1"/>
          <p:cNvSpPr txBox="1"/>
          <p:nvPr/>
        </p:nvSpPr>
        <p:spPr>
          <a:xfrm>
            <a:off x="548640" y="1920240"/>
            <a:ext cx="969264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Platform rebuild complete</a:t>
            </a:r>
            <a:endParaRPr lang="en-US" sz="4000" dirty="0"/>
          </a:p>
        </p:txBody>
      </p:sp>
      <p:sp>
        <p:nvSpPr>
          <p:cNvPr id="5" name="Text 2"/>
          <p:cNvSpPr txBox="1"/>
          <p:nvPr/>
        </p:nvSpPr>
        <p:spPr>
          <a:xfrm>
            <a:off x="548640" y="2761488"/>
            <a:ext cx="8595360" cy="777240"/>
          </a:xfrm>
          <a:prstGeom prst="rect">
            <a:avLst/>
          </a:prstGeom>
          <a:noFill/>
          <a:ln/>
        </p:spPr>
        <p:txBody>
          <a:bodyPr wrap="square" lIns="0" tIns="0" rIns="0" bIns="0" rtlCol="0" anchor="ctr"/>
          <a:lstStyle/>
          <a:p>
            <a:pPr indent="0" marL="0">
              <a:lnSpc>
                <a:spcPts val="2100"/>
              </a:lnSpc>
              <a:buNone/>
            </a:pPr>
            <a:r>
              <a:rPr lang="en-US" sz="1450" dirty="0">
                <a:solidFill>
                  <a:srgbClr val="9BABBC"/>
                </a:solidFill>
                <a:latin typeface="Calibri" pitchFamily="34" charset="0"/>
                <a:ea typeface="Calibri" pitchFamily="34" charset="-122"/>
                <a:cs typeface="Calibri" pitchFamily="34" charset="-120"/>
              </a:rPr>
              <a:t>Development and production are now fully separated, every release goes through an approved pipeline, and the compromised production host has been rebuilt clean.</a:t>
            </a:r>
            <a:endParaRPr lang="en-US" sz="1450" dirty="0"/>
          </a:p>
        </p:txBody>
      </p:sp>
      <p:sp>
        <p:nvSpPr>
          <p:cNvPr id="6" name="Text 3"/>
          <p:cNvSpPr txBox="1"/>
          <p:nvPr/>
        </p:nvSpPr>
        <p:spPr>
          <a:xfrm>
            <a:off x="548640" y="3913632"/>
            <a:ext cx="3383280" cy="822960"/>
          </a:xfrm>
          <a:prstGeom prst="rect">
            <a:avLst/>
          </a:prstGeom>
          <a:noFill/>
          <a:ln/>
        </p:spPr>
        <p:txBody>
          <a:bodyPr wrap="square" lIns="0" tIns="0" rIns="0" bIns="0" rtlCol="0" anchor="ctr"/>
          <a:lstStyle/>
          <a:p>
            <a:pPr indent="0" marL="0">
              <a:buNone/>
            </a:pPr>
            <a:r>
              <a:rPr lang="en-US" sz="5000" b="1" dirty="0">
                <a:solidFill>
                  <a:srgbClr val="FF9838"/>
                </a:solidFill>
                <a:latin typeface="Cambria" pitchFamily="34" charset="0"/>
                <a:ea typeface="Cambria" pitchFamily="34" charset="-122"/>
                <a:cs typeface="Cambria" pitchFamily="34" charset="-120"/>
              </a:rPr>
              <a:t>2</a:t>
            </a:r>
            <a:endParaRPr lang="en-US" sz="5000" dirty="0"/>
          </a:p>
        </p:txBody>
      </p:sp>
      <p:sp>
        <p:nvSpPr>
          <p:cNvPr id="7" name="Text 4"/>
          <p:cNvSpPr txBox="1"/>
          <p:nvPr/>
        </p:nvSpPr>
        <p:spPr>
          <a:xfrm>
            <a:off x="548640" y="4736592"/>
            <a:ext cx="338328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Isolated environments</a:t>
            </a:r>
            <a:endParaRPr lang="en-US" sz="1450" dirty="0"/>
          </a:p>
        </p:txBody>
      </p:sp>
      <p:sp>
        <p:nvSpPr>
          <p:cNvPr id="8" name="Text 5"/>
          <p:cNvSpPr txBox="1"/>
          <p:nvPr/>
        </p:nvSpPr>
        <p:spPr>
          <a:xfrm>
            <a:off x="548640" y="5047488"/>
            <a:ext cx="3291840" cy="777240"/>
          </a:xfrm>
          <a:prstGeom prst="rect">
            <a:avLst/>
          </a:prstGeom>
          <a:noFill/>
          <a:ln/>
        </p:spPr>
        <p:txBody>
          <a:bodyPr wrap="square" lIns="0" tIns="0" rIns="0" bIns="0" rtlCol="0" anchor="ctr"/>
          <a:lstStyle/>
          <a:p>
            <a:pPr indent="0" marL="0">
              <a:lnSpc>
                <a:spcPts val="1600"/>
              </a:lnSpc>
              <a:buNone/>
            </a:pPr>
            <a:r>
              <a:rPr lang="en-US" sz="1150" dirty="0">
                <a:solidFill>
                  <a:srgbClr val="9BABBC"/>
                </a:solidFill>
                <a:latin typeface="Calibri" pitchFamily="34" charset="0"/>
                <a:ea typeface="Calibri" pitchFamily="34" charset="-122"/>
                <a:cs typeface="Calibri" pitchFamily="34" charset="-120"/>
              </a:rPr>
              <a:t>Dev and production on independent servers, databases and storage</a:t>
            </a:r>
            <a:endParaRPr lang="en-US" sz="1150" dirty="0"/>
          </a:p>
        </p:txBody>
      </p:sp>
      <p:sp>
        <p:nvSpPr>
          <p:cNvPr id="9" name="Text 6"/>
          <p:cNvSpPr txBox="1"/>
          <p:nvPr/>
        </p:nvSpPr>
        <p:spPr>
          <a:xfrm>
            <a:off x="4297680" y="3913632"/>
            <a:ext cx="3383280" cy="822960"/>
          </a:xfrm>
          <a:prstGeom prst="rect">
            <a:avLst/>
          </a:prstGeom>
          <a:noFill/>
          <a:ln/>
        </p:spPr>
        <p:txBody>
          <a:bodyPr wrap="square" lIns="0" tIns="0" rIns="0" bIns="0" rtlCol="0" anchor="ctr"/>
          <a:lstStyle/>
          <a:p>
            <a:pPr indent="0" marL="0">
              <a:buNone/>
            </a:pPr>
            <a:r>
              <a:rPr lang="en-US" sz="5000" b="1" dirty="0">
                <a:solidFill>
                  <a:srgbClr val="FF9838"/>
                </a:solidFill>
                <a:latin typeface="Cambria" pitchFamily="34" charset="0"/>
                <a:ea typeface="Cambria" pitchFamily="34" charset="-122"/>
                <a:cs typeface="Cambria" pitchFamily="34" charset="-120"/>
              </a:rPr>
              <a:t>524K</a:t>
            </a:r>
            <a:endParaRPr lang="en-US" sz="5000" dirty="0"/>
          </a:p>
        </p:txBody>
      </p:sp>
      <p:sp>
        <p:nvSpPr>
          <p:cNvPr id="10" name="Text 7"/>
          <p:cNvSpPr txBox="1"/>
          <p:nvPr/>
        </p:nvSpPr>
        <p:spPr>
          <a:xfrm>
            <a:off x="4297680" y="4736592"/>
            <a:ext cx="338328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Catalogue records</a:t>
            </a:r>
            <a:endParaRPr lang="en-US" sz="1450" dirty="0"/>
          </a:p>
        </p:txBody>
      </p:sp>
      <p:sp>
        <p:nvSpPr>
          <p:cNvPr id="11" name="Text 8"/>
          <p:cNvSpPr txBox="1"/>
          <p:nvPr/>
        </p:nvSpPr>
        <p:spPr>
          <a:xfrm>
            <a:off x="4297680" y="5047488"/>
            <a:ext cx="3291840" cy="777240"/>
          </a:xfrm>
          <a:prstGeom prst="rect">
            <a:avLst/>
          </a:prstGeom>
          <a:noFill/>
          <a:ln/>
        </p:spPr>
        <p:txBody>
          <a:bodyPr wrap="square" lIns="0" tIns="0" rIns="0" bIns="0" rtlCol="0" anchor="ctr"/>
          <a:lstStyle/>
          <a:p>
            <a:pPr indent="0" marL="0">
              <a:lnSpc>
                <a:spcPts val="1600"/>
              </a:lnSpc>
              <a:buNone/>
            </a:pPr>
            <a:r>
              <a:rPr lang="en-US" sz="1150" dirty="0">
                <a:solidFill>
                  <a:srgbClr val="9BABBC"/>
                </a:solidFill>
                <a:latin typeface="Calibri" pitchFamily="34" charset="0"/>
                <a:ea typeface="Calibri" pitchFamily="34" charset="-122"/>
                <a:cs typeface="Calibri" pitchFamily="34" charset="-120"/>
              </a:rPr>
              <a:t>Migrated to the new production database with zero loss</a:t>
            </a:r>
            <a:endParaRPr lang="en-US" sz="1150" dirty="0"/>
          </a:p>
        </p:txBody>
      </p:sp>
      <p:sp>
        <p:nvSpPr>
          <p:cNvPr id="12" name="Text 9"/>
          <p:cNvSpPr txBox="1"/>
          <p:nvPr/>
        </p:nvSpPr>
        <p:spPr>
          <a:xfrm>
            <a:off x="8046720" y="3913632"/>
            <a:ext cx="3383280" cy="822960"/>
          </a:xfrm>
          <a:prstGeom prst="rect">
            <a:avLst/>
          </a:prstGeom>
          <a:noFill/>
          <a:ln/>
        </p:spPr>
        <p:txBody>
          <a:bodyPr wrap="square" lIns="0" tIns="0" rIns="0" bIns="0" rtlCol="0" anchor="ctr"/>
          <a:lstStyle/>
          <a:p>
            <a:pPr indent="0" marL="0">
              <a:buNone/>
            </a:pPr>
            <a:r>
              <a:rPr lang="en-US" sz="5000" b="1" dirty="0">
                <a:solidFill>
                  <a:srgbClr val="FF9838"/>
                </a:solidFill>
                <a:latin typeface="Cambria" pitchFamily="34" charset="0"/>
                <a:ea typeface="Cambria" pitchFamily="34" charset="-122"/>
                <a:cs typeface="Cambria" pitchFamily="34" charset="-120"/>
              </a:rPr>
              <a:t>1</a:t>
            </a:r>
            <a:endParaRPr lang="en-US" sz="5000" dirty="0"/>
          </a:p>
        </p:txBody>
      </p:sp>
      <p:sp>
        <p:nvSpPr>
          <p:cNvPr id="13" name="Text 10"/>
          <p:cNvSpPr txBox="1"/>
          <p:nvPr/>
        </p:nvSpPr>
        <p:spPr>
          <a:xfrm>
            <a:off x="8046720" y="4736592"/>
            <a:ext cx="3383280" cy="292608"/>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Security incident</a:t>
            </a:r>
            <a:endParaRPr lang="en-US" sz="1450" dirty="0"/>
          </a:p>
        </p:txBody>
      </p:sp>
      <p:sp>
        <p:nvSpPr>
          <p:cNvPr id="14" name="Text 11"/>
          <p:cNvSpPr txBox="1"/>
          <p:nvPr/>
        </p:nvSpPr>
        <p:spPr>
          <a:xfrm>
            <a:off x="8046720" y="5047488"/>
            <a:ext cx="3291840" cy="777240"/>
          </a:xfrm>
          <a:prstGeom prst="rect">
            <a:avLst/>
          </a:prstGeom>
          <a:noFill/>
          <a:ln/>
        </p:spPr>
        <p:txBody>
          <a:bodyPr wrap="square" lIns="0" tIns="0" rIns="0" bIns="0" rtlCol="0" anchor="ctr"/>
          <a:lstStyle/>
          <a:p>
            <a:pPr indent="0" marL="0">
              <a:lnSpc>
                <a:spcPts val="1600"/>
              </a:lnSpc>
              <a:buNone/>
            </a:pPr>
            <a:r>
              <a:rPr lang="en-US" sz="1150" dirty="0">
                <a:solidFill>
                  <a:srgbClr val="9BABBC"/>
                </a:solidFill>
                <a:latin typeface="Calibri" pitchFamily="34" charset="0"/>
                <a:ea typeface="Calibri" pitchFamily="34" charset="-122"/>
                <a:cs typeface="Calibri" pitchFamily="34" charset="-120"/>
              </a:rPr>
              <a:t>Cryptominer found on the old host — contained, rebuilt, hardened</a:t>
            </a:r>
            <a:endParaRPr lang="en-US" sz="1150" dirty="0"/>
          </a:p>
        </p:txBody>
      </p:sp>
      <p:sp>
        <p:nvSpPr>
          <p:cNvPr id="15" name="Text 12"/>
          <p:cNvSpPr txBox="1"/>
          <p:nvPr/>
        </p:nvSpPr>
        <p:spPr>
          <a:xfrm>
            <a:off x="548640" y="6108192"/>
            <a:ext cx="7315200" cy="274320"/>
          </a:xfrm>
          <a:prstGeom prst="rect">
            <a:avLst/>
          </a:prstGeom>
          <a:noFill/>
          <a:ln/>
        </p:spPr>
        <p:txBody>
          <a:bodyPr wrap="square" lIns="0" tIns="0" rIns="0" bIns="0" rtlCol="0" anchor="ctr"/>
          <a:lstStyle/>
          <a:p>
            <a:pPr indent="0" marL="0">
              <a:buNone/>
            </a:pPr>
            <a:r>
              <a:rPr lang="en-US" sz="1100" dirty="0">
                <a:solidFill>
                  <a:srgbClr val="6D7F91"/>
                </a:solidFill>
                <a:latin typeface="Calibri" pitchFamily="34" charset="0"/>
                <a:ea typeface="Calibri" pitchFamily="34" charset="-122"/>
                <a:cs typeface="Calibri" pitchFamily="34" charset="-120"/>
              </a:rPr>
              <a:t>TnC Pharmacy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566928"/>
            <a:ext cx="8229600" cy="566928"/>
          </a:xfrm>
          <a:prstGeom prst="rect">
            <a:avLst/>
          </a:prstGeom>
          <a:noFill/>
          <a:ln/>
        </p:spPr>
        <p:txBody>
          <a:bodyPr wrap="square" lIns="0" tIns="0" rIns="0" bIns="0" rtlCol="0" anchor="ctr"/>
          <a:lstStyle/>
          <a:p>
            <a:pPr indent="0" marL="0">
              <a:buNone/>
            </a:pPr>
            <a:r>
              <a:rPr lang="en-US" sz="3300" b="1" dirty="0">
                <a:solidFill>
                  <a:srgbClr val="16222E"/>
                </a:solidFill>
                <a:latin typeface="Cambria" pitchFamily="34" charset="0"/>
                <a:ea typeface="Cambria" pitchFamily="34" charset="-122"/>
                <a:cs typeface="Cambria" pitchFamily="34" charset="-120"/>
              </a:rPr>
              <a:t>What we delivered</a:t>
            </a:r>
            <a:endParaRPr lang="en-US" sz="3300" dirty="0"/>
          </a:p>
        </p:txBody>
      </p:sp>
      <p:sp>
        <p:nvSpPr>
          <p:cNvPr id="4" name="Text 1"/>
          <p:cNvSpPr txBox="1"/>
          <p:nvPr/>
        </p:nvSpPr>
        <p:spPr>
          <a:xfrm>
            <a:off x="548640" y="1152144"/>
            <a:ext cx="8229600" cy="292608"/>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Four workstreams, all now in production.</a:t>
            </a:r>
            <a:endParaRPr lang="en-US" sz="1350" dirty="0"/>
          </a:p>
        </p:txBody>
      </p:sp>
      <p:sp>
        <p:nvSpPr>
          <p:cNvPr id="5" name="Shape 2"/>
          <p:cNvSpPr/>
          <p:nvPr/>
        </p:nvSpPr>
        <p:spPr>
          <a:xfrm>
            <a:off x="548640" y="1755648"/>
            <a:ext cx="5257800" cy="1810512"/>
          </a:xfrm>
          <a:prstGeom prst="roundRect">
            <a:avLst>
              <a:gd name="adj" fmla="val 3030"/>
            </a:avLst>
          </a:prstGeom>
          <a:solidFill>
            <a:srgbClr val="F5F8FC"/>
          </a:solidFill>
          <a:ln w="12700">
            <a:solidFill>
              <a:srgbClr val="D9E2EC"/>
            </a:solidFill>
            <a:prstDash val="solid"/>
          </a:ln>
        </p:spPr>
      </p:sp>
      <p:sp>
        <p:nvSpPr>
          <p:cNvPr id="6" name="Shape 3"/>
          <p:cNvSpPr/>
          <p:nvPr/>
        </p:nvSpPr>
        <p:spPr>
          <a:xfrm>
            <a:off x="841248" y="2029968"/>
            <a:ext cx="402336" cy="402336"/>
          </a:xfrm>
          <a:prstGeom prst="ellipse">
            <a:avLst/>
          </a:prstGeom>
          <a:solidFill>
            <a:srgbClr val="0054B4"/>
          </a:solidFill>
          <a:ln w="12700">
            <a:solidFill>
              <a:srgbClr val="0054B4"/>
            </a:solidFill>
            <a:prstDash val="solid"/>
          </a:ln>
        </p:spPr>
      </p:sp>
      <p:sp>
        <p:nvSpPr>
          <p:cNvPr id="7" name="Text 4"/>
          <p:cNvSpPr txBox="1"/>
          <p:nvPr/>
        </p:nvSpPr>
        <p:spPr>
          <a:xfrm>
            <a:off x="841248" y="2029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389888" y="2029968"/>
            <a:ext cx="4160520" cy="384048"/>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Separated environments</a:t>
            </a:r>
            <a:endParaRPr lang="en-US" sz="1550" dirty="0"/>
          </a:p>
        </p:txBody>
      </p:sp>
      <p:sp>
        <p:nvSpPr>
          <p:cNvPr id="9" name="Text 6"/>
          <p:cNvSpPr txBox="1"/>
          <p:nvPr/>
        </p:nvSpPr>
        <p:spPr>
          <a:xfrm>
            <a:off x="841248" y="2542032"/>
            <a:ext cx="4709160" cy="91440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Development and production run on independent servers with their own databases, storage and credentials. Changes are proven on dev before any customer sees them.</a:t>
            </a:r>
            <a:endParaRPr lang="en-US" sz="1150" dirty="0"/>
          </a:p>
        </p:txBody>
      </p:sp>
      <p:sp>
        <p:nvSpPr>
          <p:cNvPr id="10" name="Shape 7"/>
          <p:cNvSpPr/>
          <p:nvPr/>
        </p:nvSpPr>
        <p:spPr>
          <a:xfrm>
            <a:off x="6355080" y="1755648"/>
            <a:ext cx="5257800" cy="1810512"/>
          </a:xfrm>
          <a:prstGeom prst="roundRect">
            <a:avLst>
              <a:gd name="adj" fmla="val 3030"/>
            </a:avLst>
          </a:prstGeom>
          <a:solidFill>
            <a:srgbClr val="F5F8FC"/>
          </a:solidFill>
          <a:ln w="12700">
            <a:solidFill>
              <a:srgbClr val="D9E2EC"/>
            </a:solidFill>
            <a:prstDash val="solid"/>
          </a:ln>
        </p:spPr>
      </p:sp>
      <p:sp>
        <p:nvSpPr>
          <p:cNvPr id="11" name="Shape 8"/>
          <p:cNvSpPr/>
          <p:nvPr/>
        </p:nvSpPr>
        <p:spPr>
          <a:xfrm>
            <a:off x="6647688" y="2029968"/>
            <a:ext cx="402336" cy="402336"/>
          </a:xfrm>
          <a:prstGeom prst="ellipse">
            <a:avLst/>
          </a:prstGeom>
          <a:solidFill>
            <a:srgbClr val="0054B4"/>
          </a:solidFill>
          <a:ln w="12700">
            <a:solidFill>
              <a:srgbClr val="0054B4"/>
            </a:solidFill>
            <a:prstDash val="solid"/>
          </a:ln>
        </p:spPr>
      </p:sp>
      <p:sp>
        <p:nvSpPr>
          <p:cNvPr id="12" name="Text 9"/>
          <p:cNvSpPr txBox="1"/>
          <p:nvPr/>
        </p:nvSpPr>
        <p:spPr>
          <a:xfrm>
            <a:off x="6647688" y="2029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7196328" y="2029968"/>
            <a:ext cx="4160520" cy="384048"/>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Controlled releases</a:t>
            </a:r>
            <a:endParaRPr lang="en-US" sz="1550" dirty="0"/>
          </a:p>
        </p:txBody>
      </p:sp>
      <p:sp>
        <p:nvSpPr>
          <p:cNvPr id="14" name="Text 11"/>
          <p:cNvSpPr txBox="1"/>
          <p:nvPr/>
        </p:nvSpPr>
        <p:spPr>
          <a:xfrm>
            <a:off x="6647688" y="2542032"/>
            <a:ext cx="4709160" cy="91440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Every change is automatically type-checked and tested. Production deployments require named approval — nothing reaches customers unreviewed.</a:t>
            </a:r>
            <a:endParaRPr lang="en-US" sz="1150" dirty="0"/>
          </a:p>
        </p:txBody>
      </p:sp>
      <p:sp>
        <p:nvSpPr>
          <p:cNvPr id="15" name="Shape 12"/>
          <p:cNvSpPr/>
          <p:nvPr/>
        </p:nvSpPr>
        <p:spPr>
          <a:xfrm>
            <a:off x="548640" y="3822192"/>
            <a:ext cx="5257800" cy="1810512"/>
          </a:xfrm>
          <a:prstGeom prst="roundRect">
            <a:avLst>
              <a:gd name="adj" fmla="val 3030"/>
            </a:avLst>
          </a:prstGeom>
          <a:solidFill>
            <a:srgbClr val="F5F8FC"/>
          </a:solidFill>
          <a:ln w="12700">
            <a:solidFill>
              <a:srgbClr val="D9E2EC"/>
            </a:solidFill>
            <a:prstDash val="solid"/>
          </a:ln>
        </p:spPr>
      </p:sp>
      <p:sp>
        <p:nvSpPr>
          <p:cNvPr id="16" name="Shape 13"/>
          <p:cNvSpPr/>
          <p:nvPr/>
        </p:nvSpPr>
        <p:spPr>
          <a:xfrm>
            <a:off x="841248" y="4096512"/>
            <a:ext cx="402336" cy="402336"/>
          </a:xfrm>
          <a:prstGeom prst="ellipse">
            <a:avLst/>
          </a:prstGeom>
          <a:solidFill>
            <a:srgbClr val="0054B4"/>
          </a:solidFill>
          <a:ln w="12700">
            <a:solidFill>
              <a:srgbClr val="0054B4"/>
            </a:solidFill>
            <a:prstDash val="solid"/>
          </a:ln>
        </p:spPr>
      </p:sp>
      <p:sp>
        <p:nvSpPr>
          <p:cNvPr id="17" name="Text 14"/>
          <p:cNvSpPr txBox="1"/>
          <p:nvPr/>
        </p:nvSpPr>
        <p:spPr>
          <a:xfrm>
            <a:off x="841248" y="4096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389888" y="4096512"/>
            <a:ext cx="4160520" cy="384048"/>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Security remediation</a:t>
            </a:r>
            <a:endParaRPr lang="en-US" sz="1550" dirty="0"/>
          </a:p>
        </p:txBody>
      </p:sp>
      <p:sp>
        <p:nvSpPr>
          <p:cNvPr id="19" name="Text 16"/>
          <p:cNvSpPr txBox="1"/>
          <p:nvPr/>
        </p:nvSpPr>
        <p:spPr>
          <a:xfrm>
            <a:off x="841248" y="4608576"/>
            <a:ext cx="4709160" cy="91440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The previous production server was running a cryptominer with administrator access. It was destroyed, rebuilt hardened, and access locked to our CDN only.</a:t>
            </a:r>
            <a:endParaRPr lang="en-US" sz="1150" dirty="0"/>
          </a:p>
        </p:txBody>
      </p:sp>
      <p:sp>
        <p:nvSpPr>
          <p:cNvPr id="20" name="Shape 17"/>
          <p:cNvSpPr/>
          <p:nvPr/>
        </p:nvSpPr>
        <p:spPr>
          <a:xfrm>
            <a:off x="6355080" y="3822192"/>
            <a:ext cx="5257800" cy="1810512"/>
          </a:xfrm>
          <a:prstGeom prst="roundRect">
            <a:avLst>
              <a:gd name="adj" fmla="val 3030"/>
            </a:avLst>
          </a:prstGeom>
          <a:solidFill>
            <a:srgbClr val="F5F8FC"/>
          </a:solidFill>
          <a:ln w="12700">
            <a:solidFill>
              <a:srgbClr val="D9E2EC"/>
            </a:solidFill>
            <a:prstDash val="solid"/>
          </a:ln>
        </p:spPr>
      </p:sp>
      <p:sp>
        <p:nvSpPr>
          <p:cNvPr id="21" name="Shape 18"/>
          <p:cNvSpPr/>
          <p:nvPr/>
        </p:nvSpPr>
        <p:spPr>
          <a:xfrm>
            <a:off x="6647688" y="4096512"/>
            <a:ext cx="402336" cy="402336"/>
          </a:xfrm>
          <a:prstGeom prst="ellipse">
            <a:avLst/>
          </a:prstGeom>
          <a:solidFill>
            <a:srgbClr val="0054B4"/>
          </a:solidFill>
          <a:ln w="12700">
            <a:solidFill>
              <a:srgbClr val="0054B4"/>
            </a:solidFill>
            <a:prstDash val="solid"/>
          </a:ln>
        </p:spPr>
      </p:sp>
      <p:sp>
        <p:nvSpPr>
          <p:cNvPr id="22" name="Text 19"/>
          <p:cNvSpPr txBox="1"/>
          <p:nvPr/>
        </p:nvSpPr>
        <p:spPr>
          <a:xfrm>
            <a:off x="6647688" y="409651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7196328" y="4096512"/>
            <a:ext cx="4160520" cy="384048"/>
          </a:xfrm>
          <a:prstGeom prst="rect">
            <a:avLst/>
          </a:prstGeom>
          <a:noFill/>
          <a:ln/>
        </p:spPr>
        <p:txBody>
          <a:bodyPr wrap="square" lIns="0" tIns="0" rIns="0" bIns="0" rtlCol="0" anchor="ctr"/>
          <a:lstStyle/>
          <a:p>
            <a:pPr indent="0" marL="0">
              <a:buNone/>
            </a:pPr>
            <a:r>
              <a:rPr lang="en-US" sz="1550" b="1" dirty="0">
                <a:solidFill>
                  <a:srgbClr val="16222E"/>
                </a:solidFill>
                <a:latin typeface="Calibri" pitchFamily="34" charset="0"/>
                <a:ea typeface="Calibri" pitchFamily="34" charset="-122"/>
                <a:cs typeface="Calibri" pitchFamily="34" charset="-120"/>
              </a:rPr>
              <a:t>Engineering handbook</a:t>
            </a:r>
            <a:endParaRPr lang="en-US" sz="1550" dirty="0"/>
          </a:p>
        </p:txBody>
      </p:sp>
      <p:sp>
        <p:nvSpPr>
          <p:cNvPr id="24" name="Text 21"/>
          <p:cNvSpPr txBox="1"/>
          <p:nvPr/>
        </p:nvSpPr>
        <p:spPr>
          <a:xfrm>
            <a:off x="6647688" y="4608576"/>
            <a:ext cx="4709160" cy="91440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The platform, its environments and its failure modes are documented, so a new developer becomes productive without depending on tribal knowledge.</a:t>
            </a:r>
            <a:endParaRPr lang="en-US" sz="1150" dirty="0"/>
          </a:p>
        </p:txBody>
      </p:sp>
      <p:sp>
        <p:nvSpPr>
          <p:cNvPr id="25" name="Text 2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100" i="1" dirty="0">
                <a:solidFill>
                  <a:srgbClr val="8496A6"/>
                </a:solidFill>
                <a:latin typeface="Calibri" pitchFamily="34" charset="0"/>
                <a:ea typeface="Calibri" pitchFamily="34" charset="-122"/>
                <a:cs typeface="Calibri" pitchFamily="34" charset="-120"/>
              </a:rPr>
              <a:t>Previously: one shared server, manual deployment, no rollback path, credentials held in the code repository.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566928"/>
            <a:ext cx="7315200" cy="566928"/>
          </a:xfrm>
          <a:prstGeom prst="rect">
            <a:avLst/>
          </a:prstGeom>
          <a:noFill/>
          <a:ln/>
        </p:spPr>
        <p:txBody>
          <a:bodyPr wrap="square" lIns="0" tIns="0" rIns="0" bIns="0" rtlCol="0" anchor="ctr"/>
          <a:lstStyle/>
          <a:p>
            <a:pPr indent="0" marL="0">
              <a:buNone/>
            </a:pPr>
            <a:r>
              <a:rPr lang="en-US" sz="3300" b="1" dirty="0">
                <a:solidFill>
                  <a:srgbClr val="16222E"/>
                </a:solidFill>
                <a:latin typeface="Cambria" pitchFamily="34" charset="0"/>
                <a:ea typeface="Cambria" pitchFamily="34" charset="-122"/>
                <a:cs typeface="Cambria" pitchFamily="34" charset="-120"/>
              </a:rPr>
              <a:t>Current phase</a:t>
            </a:r>
            <a:endParaRPr lang="en-US" sz="3300" dirty="0"/>
          </a:p>
        </p:txBody>
      </p:sp>
      <p:sp>
        <p:nvSpPr>
          <p:cNvPr id="4" name="Shape 1"/>
          <p:cNvSpPr/>
          <p:nvPr/>
        </p:nvSpPr>
        <p:spPr>
          <a:xfrm>
            <a:off x="548640" y="1207008"/>
            <a:ext cx="815645" cy="237744"/>
          </a:xfrm>
          <a:prstGeom prst="roundRect">
            <a:avLst>
              <a:gd name="adj" fmla="val 50000"/>
            </a:avLst>
          </a:prstGeom>
          <a:solidFill>
            <a:srgbClr val="FC7800"/>
          </a:solidFill>
          <a:ln w="12700">
            <a:solidFill>
              <a:srgbClr val="FC7800"/>
            </a:solidFill>
            <a:prstDash val="solid"/>
          </a:ln>
        </p:spPr>
      </p:sp>
      <p:sp>
        <p:nvSpPr>
          <p:cNvPr id="5" name="Text 2"/>
          <p:cNvSpPr txBox="1"/>
          <p:nvPr/>
        </p:nvSpPr>
        <p:spPr>
          <a:xfrm>
            <a:off x="548640" y="1207008"/>
            <a:ext cx="815645" cy="23774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IN PROGRESS</a:t>
            </a:r>
            <a:endParaRPr lang="en-US" sz="950" dirty="0"/>
          </a:p>
        </p:txBody>
      </p:sp>
      <p:sp>
        <p:nvSpPr>
          <p:cNvPr id="6" name="Text 3"/>
          <p:cNvSpPr txBox="1"/>
          <p:nvPr/>
        </p:nvSpPr>
        <p:spPr>
          <a:xfrm>
            <a:off x="1783080" y="1188720"/>
            <a:ext cx="8778240" cy="292608"/>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Three workstreams that make the platform usable day to day — for customers and for the counter staff.</a:t>
            </a:r>
            <a:endParaRPr lang="en-US" sz="1350" dirty="0"/>
          </a:p>
        </p:txBody>
      </p:sp>
      <p:sp>
        <p:nvSpPr>
          <p:cNvPr id="7" name="Shape 4"/>
          <p:cNvSpPr/>
          <p:nvPr/>
        </p:nvSpPr>
        <p:spPr>
          <a:xfrm>
            <a:off x="548640" y="1783080"/>
            <a:ext cx="3429000" cy="4023360"/>
          </a:xfrm>
          <a:prstGeom prst="roundRect">
            <a:avLst>
              <a:gd name="adj" fmla="val 1600"/>
            </a:avLst>
          </a:prstGeom>
          <a:solidFill>
            <a:srgbClr val="F5F8FC"/>
          </a:solidFill>
          <a:ln w="12700">
            <a:solidFill>
              <a:srgbClr val="D9E2EC"/>
            </a:solidFill>
            <a:prstDash val="solid"/>
          </a:ln>
        </p:spPr>
      </p:sp>
      <p:sp>
        <p:nvSpPr>
          <p:cNvPr id="8" name="Shape 5"/>
          <p:cNvSpPr/>
          <p:nvPr/>
        </p:nvSpPr>
        <p:spPr>
          <a:xfrm>
            <a:off x="822960" y="2011680"/>
            <a:ext cx="402336" cy="402336"/>
          </a:xfrm>
          <a:prstGeom prst="ellipse">
            <a:avLst/>
          </a:prstGeom>
          <a:solidFill>
            <a:srgbClr val="0054B4"/>
          </a:solidFill>
          <a:ln w="12700">
            <a:solidFill>
              <a:srgbClr val="0054B4"/>
            </a:solidFill>
            <a:prstDash val="solid"/>
          </a:ln>
        </p:spPr>
      </p:sp>
      <p:sp>
        <p:nvSpPr>
          <p:cNvPr id="9" name="Text 6"/>
          <p:cNvSpPr txBox="1"/>
          <p:nvPr/>
        </p:nvSpPr>
        <p:spPr>
          <a:xfrm>
            <a:off x="822960"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822960" y="2542032"/>
            <a:ext cx="2926080" cy="548640"/>
          </a:xfrm>
          <a:prstGeom prst="rect">
            <a:avLst/>
          </a:prstGeom>
          <a:noFill/>
          <a:ln/>
        </p:spPr>
        <p:txBody>
          <a:bodyPr wrap="square" lIns="0" tIns="0" rIns="0" bIns="0" rtlCol="0" anchor="ctr"/>
          <a:lstStyle/>
          <a:p>
            <a:pPr indent="0" marL="0">
              <a:buNone/>
            </a:pPr>
            <a:r>
              <a:rPr lang="en-US" sz="1500" b="1" dirty="0">
                <a:solidFill>
                  <a:srgbClr val="0054B4"/>
                </a:solidFill>
                <a:latin typeface="Calibri" pitchFamily="34" charset="0"/>
                <a:ea typeface="Calibri" pitchFamily="34" charset="-122"/>
                <a:cs typeface="Calibri" pitchFamily="34" charset="-120"/>
              </a:rPr>
              <a:t>WhatsApp notifications</a:t>
            </a:r>
            <a:endParaRPr lang="en-US" sz="1500" dirty="0"/>
          </a:p>
        </p:txBody>
      </p:sp>
      <p:sp>
        <p:nvSpPr>
          <p:cNvPr id="11" name="Text 8"/>
          <p:cNvSpPr txBox="1"/>
          <p:nvPr/>
        </p:nvSpPr>
        <p:spPr>
          <a:xfrm>
            <a:off x="822960" y="3127248"/>
            <a:ext cx="2907792" cy="1143000"/>
          </a:xfrm>
          <a:prstGeom prst="rect">
            <a:avLst/>
          </a:prstGeom>
          <a:noFill/>
          <a:ln/>
        </p:spPr>
        <p:txBody>
          <a:bodyPr wrap="square" lIns="0" tIns="0" rIns="0" bIns="0" rtlCol="0" anchor="ctr"/>
          <a:lstStyle/>
          <a:p>
            <a:pPr indent="0" marL="0">
              <a:lnSpc>
                <a:spcPts val="1500"/>
              </a:lnSpc>
              <a:buNone/>
            </a:pPr>
            <a:r>
              <a:rPr lang="en-US" sz="1100" dirty="0">
                <a:solidFill>
                  <a:srgbClr val="5A6B7D"/>
                </a:solidFill>
                <a:latin typeface="Calibri" pitchFamily="34" charset="0"/>
                <a:ea typeface="Calibri" pitchFamily="34" charset="-122"/>
                <a:cs typeface="Calibri" pitchFamily="34" charset="-120"/>
              </a:rPr>
              <a:t>Order confirmations, prescription status and delivery updates delivered to the channel customers actually read, instead of email nobody opens.</a:t>
            </a:r>
            <a:endParaRPr lang="en-US" sz="1100" dirty="0"/>
          </a:p>
        </p:txBody>
      </p:sp>
      <p:sp>
        <p:nvSpPr>
          <p:cNvPr id="12" name="Text 9"/>
          <p:cNvSpPr txBox="1"/>
          <p:nvPr/>
        </p:nvSpPr>
        <p:spPr>
          <a:xfrm>
            <a:off x="932688" y="4370832"/>
            <a:ext cx="2798064" cy="123444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Order and payment confirmations</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Prescription approved or query raised</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Dispatch and delivery updates</a:t>
            </a:r>
            <a:endParaRPr lang="en-US" sz="1050" dirty="0"/>
          </a:p>
        </p:txBody>
      </p:sp>
      <p:sp>
        <p:nvSpPr>
          <p:cNvPr id="13" name="Shape 10"/>
          <p:cNvSpPr/>
          <p:nvPr/>
        </p:nvSpPr>
        <p:spPr>
          <a:xfrm>
            <a:off x="4297680" y="1783080"/>
            <a:ext cx="3429000" cy="4023360"/>
          </a:xfrm>
          <a:prstGeom prst="roundRect">
            <a:avLst>
              <a:gd name="adj" fmla="val 1600"/>
            </a:avLst>
          </a:prstGeom>
          <a:solidFill>
            <a:srgbClr val="F5F8FC"/>
          </a:solidFill>
          <a:ln w="12700">
            <a:solidFill>
              <a:srgbClr val="D9E2EC"/>
            </a:solidFill>
            <a:prstDash val="solid"/>
          </a:ln>
        </p:spPr>
      </p:sp>
      <p:sp>
        <p:nvSpPr>
          <p:cNvPr id="14" name="Shape 11"/>
          <p:cNvSpPr/>
          <p:nvPr/>
        </p:nvSpPr>
        <p:spPr>
          <a:xfrm>
            <a:off x="4572000" y="2011680"/>
            <a:ext cx="402336" cy="402336"/>
          </a:xfrm>
          <a:prstGeom prst="ellipse">
            <a:avLst/>
          </a:prstGeom>
          <a:solidFill>
            <a:srgbClr val="0054B4"/>
          </a:solidFill>
          <a:ln w="12700">
            <a:solidFill>
              <a:srgbClr val="0054B4"/>
            </a:solidFill>
            <a:prstDash val="solid"/>
          </a:ln>
        </p:spPr>
      </p:sp>
      <p:sp>
        <p:nvSpPr>
          <p:cNvPr id="15" name="Text 12"/>
          <p:cNvSpPr txBox="1"/>
          <p:nvPr/>
        </p:nvSpPr>
        <p:spPr>
          <a:xfrm>
            <a:off x="4572000"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txBox="1"/>
          <p:nvPr/>
        </p:nvSpPr>
        <p:spPr>
          <a:xfrm>
            <a:off x="4572000" y="2542032"/>
            <a:ext cx="2926080" cy="548640"/>
          </a:xfrm>
          <a:prstGeom prst="rect">
            <a:avLst/>
          </a:prstGeom>
          <a:noFill/>
          <a:ln/>
        </p:spPr>
        <p:txBody>
          <a:bodyPr wrap="square" lIns="0" tIns="0" rIns="0" bIns="0" rtlCol="0" anchor="ctr"/>
          <a:lstStyle/>
          <a:p>
            <a:pPr indent="0" marL="0">
              <a:buNone/>
            </a:pPr>
            <a:r>
              <a:rPr lang="en-US" sz="1500" b="1" dirty="0">
                <a:solidFill>
                  <a:srgbClr val="0054B4"/>
                </a:solidFill>
                <a:latin typeface="Calibri" pitchFamily="34" charset="0"/>
                <a:ea typeface="Calibri" pitchFamily="34" charset="-122"/>
                <a:cs typeface="Calibri" pitchFamily="34" charset="-120"/>
              </a:rPr>
              <a:t>Support module</a:t>
            </a:r>
            <a:endParaRPr lang="en-US" sz="1500" dirty="0"/>
          </a:p>
        </p:txBody>
      </p:sp>
      <p:sp>
        <p:nvSpPr>
          <p:cNvPr id="17" name="Text 14"/>
          <p:cNvSpPr txBox="1"/>
          <p:nvPr/>
        </p:nvSpPr>
        <p:spPr>
          <a:xfrm>
            <a:off x="4572000" y="3127248"/>
            <a:ext cx="2907792" cy="1143000"/>
          </a:xfrm>
          <a:prstGeom prst="rect">
            <a:avLst/>
          </a:prstGeom>
          <a:noFill/>
          <a:ln/>
        </p:spPr>
        <p:txBody>
          <a:bodyPr wrap="square" lIns="0" tIns="0" rIns="0" bIns="0" rtlCol="0" anchor="ctr"/>
          <a:lstStyle/>
          <a:p>
            <a:pPr indent="0" marL="0">
              <a:lnSpc>
                <a:spcPts val="1500"/>
              </a:lnSpc>
              <a:buNone/>
            </a:pPr>
            <a:r>
              <a:rPr lang="en-US" sz="1100" dirty="0">
                <a:solidFill>
                  <a:srgbClr val="5A6B7D"/>
                </a:solidFill>
                <a:latin typeface="Calibri" pitchFamily="34" charset="0"/>
                <a:ea typeface="Calibri" pitchFamily="34" charset="-122"/>
                <a:cs typeface="Calibri" pitchFamily="34" charset="-120"/>
              </a:rPr>
              <a:t>One place for every customer query raised from the app, with an owner and a history — so questions stop living in personal phones and WhatsApp threads.</a:t>
            </a:r>
            <a:endParaRPr lang="en-US" sz="1100" dirty="0"/>
          </a:p>
        </p:txBody>
      </p:sp>
      <p:sp>
        <p:nvSpPr>
          <p:cNvPr id="18" name="Text 15"/>
          <p:cNvSpPr txBox="1"/>
          <p:nvPr/>
        </p:nvSpPr>
        <p:spPr>
          <a:xfrm>
            <a:off x="4681728" y="4370832"/>
            <a:ext cx="2798064" cy="123444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Tickets raised from the app</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Assignment and status tracking</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Full conversation history</a:t>
            </a:r>
            <a:endParaRPr lang="en-US" sz="1050" dirty="0"/>
          </a:p>
        </p:txBody>
      </p:sp>
      <p:sp>
        <p:nvSpPr>
          <p:cNvPr id="19" name="Shape 16"/>
          <p:cNvSpPr/>
          <p:nvPr/>
        </p:nvSpPr>
        <p:spPr>
          <a:xfrm>
            <a:off x="8046720" y="1783080"/>
            <a:ext cx="3429000" cy="4023360"/>
          </a:xfrm>
          <a:prstGeom prst="roundRect">
            <a:avLst>
              <a:gd name="adj" fmla="val 1600"/>
            </a:avLst>
          </a:prstGeom>
          <a:solidFill>
            <a:srgbClr val="F5F8FC"/>
          </a:solidFill>
          <a:ln w="12700">
            <a:solidFill>
              <a:srgbClr val="D9E2EC"/>
            </a:solidFill>
            <a:prstDash val="solid"/>
          </a:ln>
        </p:spPr>
      </p:sp>
      <p:sp>
        <p:nvSpPr>
          <p:cNvPr id="20" name="Shape 17"/>
          <p:cNvSpPr/>
          <p:nvPr/>
        </p:nvSpPr>
        <p:spPr>
          <a:xfrm>
            <a:off x="8321040" y="2011680"/>
            <a:ext cx="402336" cy="402336"/>
          </a:xfrm>
          <a:prstGeom prst="ellipse">
            <a:avLst/>
          </a:prstGeom>
          <a:solidFill>
            <a:srgbClr val="0054B4"/>
          </a:solidFill>
          <a:ln w="12700">
            <a:solidFill>
              <a:srgbClr val="0054B4"/>
            </a:solidFill>
            <a:prstDash val="solid"/>
          </a:ln>
        </p:spPr>
      </p:sp>
      <p:sp>
        <p:nvSpPr>
          <p:cNvPr id="21" name="Text 18"/>
          <p:cNvSpPr txBox="1"/>
          <p:nvPr/>
        </p:nvSpPr>
        <p:spPr>
          <a:xfrm>
            <a:off x="8321040"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8321040" y="2542032"/>
            <a:ext cx="2926080" cy="548640"/>
          </a:xfrm>
          <a:prstGeom prst="rect">
            <a:avLst/>
          </a:prstGeom>
          <a:noFill/>
          <a:ln/>
        </p:spPr>
        <p:txBody>
          <a:bodyPr wrap="square" lIns="0" tIns="0" rIns="0" bIns="0" rtlCol="0" anchor="ctr"/>
          <a:lstStyle/>
          <a:p>
            <a:pPr indent="0" marL="0">
              <a:buNone/>
            </a:pPr>
            <a:r>
              <a:rPr lang="en-US" sz="1500" b="1" dirty="0">
                <a:solidFill>
                  <a:srgbClr val="0054B4"/>
                </a:solidFill>
                <a:latin typeface="Calibri" pitchFamily="34" charset="0"/>
                <a:ea typeface="Calibri" pitchFamily="34" charset="-122"/>
                <a:cs typeface="Calibri" pitchFamily="34" charset="-120"/>
              </a:rPr>
              <a:t>Pharmacist enhancements</a:t>
            </a:r>
            <a:endParaRPr lang="en-US" sz="1500" dirty="0"/>
          </a:p>
        </p:txBody>
      </p:sp>
      <p:sp>
        <p:nvSpPr>
          <p:cNvPr id="23" name="Text 20"/>
          <p:cNvSpPr txBox="1"/>
          <p:nvPr/>
        </p:nvSpPr>
        <p:spPr>
          <a:xfrm>
            <a:off x="8321040" y="3127248"/>
            <a:ext cx="2907792" cy="1143000"/>
          </a:xfrm>
          <a:prstGeom prst="rect">
            <a:avLst/>
          </a:prstGeom>
          <a:noFill/>
          <a:ln/>
        </p:spPr>
        <p:txBody>
          <a:bodyPr wrap="square" lIns="0" tIns="0" rIns="0" bIns="0" rtlCol="0" anchor="ctr"/>
          <a:lstStyle/>
          <a:p>
            <a:pPr indent="0" marL="0">
              <a:lnSpc>
                <a:spcPts val="1500"/>
              </a:lnSpc>
              <a:buNone/>
            </a:pPr>
            <a:r>
              <a:rPr lang="en-US" sz="1100" dirty="0">
                <a:solidFill>
                  <a:srgbClr val="5A6B7D"/>
                </a:solidFill>
                <a:latin typeface="Calibri" pitchFamily="34" charset="0"/>
                <a:ea typeface="Calibri" pitchFamily="34" charset="-122"/>
                <a:cs typeface="Calibri" pitchFamily="34" charset="-120"/>
              </a:rPr>
              <a:t>Faster work at the retail counter: a cleaner prescription review queue and improved OCR extraction that removes manual re-typing.</a:t>
            </a:r>
            <a:endParaRPr lang="en-US" sz="1100" dirty="0"/>
          </a:p>
        </p:txBody>
      </p:sp>
      <p:sp>
        <p:nvSpPr>
          <p:cNvPr id="24" name="Text 21"/>
          <p:cNvSpPr txBox="1"/>
          <p:nvPr/>
        </p:nvSpPr>
        <p:spPr>
          <a:xfrm>
            <a:off x="8430768" y="4370832"/>
            <a:ext cx="2798064" cy="123444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Streamlined review queue</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Better OCR match accuracy</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Fewer clicks per order</a:t>
            </a:r>
            <a:endParaRPr lang="en-US" sz="1050" dirty="0"/>
          </a:p>
        </p:txBody>
      </p:sp>
      <p:sp>
        <p:nvSpPr>
          <p:cNvPr id="25" name="Text 2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100" i="1" dirty="0">
                <a:solidFill>
                  <a:srgbClr val="8496A6"/>
                </a:solidFill>
                <a:latin typeface="Calibri" pitchFamily="34" charset="0"/>
                <a:ea typeface="Calibri" pitchFamily="34" charset="-122"/>
                <a:cs typeface="Calibri" pitchFamily="34" charset="-120"/>
              </a:rPr>
              <a:t>WhatsApp messaging runs through AiSensy, already integrated and live in production for order events.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A"/>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566928"/>
            <a:ext cx="9326880" cy="566928"/>
          </a:xfrm>
          <a:prstGeom prst="rect">
            <a:avLst/>
          </a:prstGeom>
          <a:noFill/>
          <a:ln/>
        </p:spPr>
        <p:txBody>
          <a:bodyPr wrap="square" lIns="0" tIns="0" rIns="0" bIns="0" rtlCol="0" anchor="ctr"/>
          <a:lstStyle/>
          <a:p>
            <a:pPr indent="0" marL="0">
              <a:buNone/>
            </a:pPr>
            <a:r>
              <a:rPr lang="en-US" sz="3300" b="1" dirty="0">
                <a:solidFill>
                  <a:srgbClr val="16222E"/>
                </a:solidFill>
                <a:latin typeface="Cambria" pitchFamily="34" charset="0"/>
                <a:ea typeface="Cambria" pitchFamily="34" charset="-122"/>
                <a:cs typeface="Cambria" pitchFamily="34" charset="-120"/>
              </a:rPr>
              <a:t>Phase 1 — payments and delivery</a:t>
            </a:r>
            <a:endParaRPr lang="en-US" sz="3300" dirty="0"/>
          </a:p>
        </p:txBody>
      </p:sp>
      <p:sp>
        <p:nvSpPr>
          <p:cNvPr id="4" name="Text 1"/>
          <p:cNvSpPr txBox="1"/>
          <p:nvPr/>
        </p:nvSpPr>
        <p:spPr>
          <a:xfrm>
            <a:off x="548640" y="1152144"/>
            <a:ext cx="10515600" cy="292608"/>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Six stages, each shippable on its own so value arrives before the whole programme finishes.</a:t>
            </a:r>
            <a:endParaRPr lang="en-US" sz="1350" dirty="0"/>
          </a:p>
        </p:txBody>
      </p:sp>
      <p:sp>
        <p:nvSpPr>
          <p:cNvPr id="5" name="Shape 2"/>
          <p:cNvSpPr/>
          <p:nvPr/>
        </p:nvSpPr>
        <p:spPr>
          <a:xfrm>
            <a:off x="749808" y="2157984"/>
            <a:ext cx="9601200" cy="27432"/>
          </a:xfrm>
          <a:prstGeom prst="rect">
            <a:avLst/>
          </a:prstGeom>
          <a:solidFill>
            <a:srgbClr val="D9E2EC"/>
          </a:solidFill>
          <a:ln w="12700">
            <a:solidFill>
              <a:srgbClr val="D9E2EC"/>
            </a:solidFill>
            <a:prstDash val="solid"/>
          </a:ln>
        </p:spPr>
      </p:sp>
      <p:sp>
        <p:nvSpPr>
          <p:cNvPr id="6" name="Shape 3"/>
          <p:cNvSpPr/>
          <p:nvPr/>
        </p:nvSpPr>
        <p:spPr>
          <a:xfrm>
            <a:off x="548640" y="1956816"/>
            <a:ext cx="438912" cy="438912"/>
          </a:xfrm>
          <a:prstGeom prst="ellipse">
            <a:avLst/>
          </a:prstGeom>
          <a:solidFill>
            <a:srgbClr val="0054B4"/>
          </a:solidFill>
          <a:ln w="12700">
            <a:solidFill>
              <a:srgbClr val="0054B4"/>
            </a:solidFill>
            <a:prstDash val="solid"/>
          </a:ln>
        </p:spPr>
      </p:sp>
      <p:sp>
        <p:nvSpPr>
          <p:cNvPr id="7" name="Text 4"/>
          <p:cNvSpPr txBox="1"/>
          <p:nvPr/>
        </p:nvSpPr>
        <p:spPr>
          <a:xfrm>
            <a:off x="548640"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txBox="1"/>
          <p:nvPr/>
        </p:nvSpPr>
        <p:spPr>
          <a:xfrm>
            <a:off x="512064"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Foundations</a:t>
            </a:r>
            <a:endParaRPr lang="en-US" sz="1250" dirty="0"/>
          </a:p>
        </p:txBody>
      </p:sp>
      <p:sp>
        <p:nvSpPr>
          <p:cNvPr id="9" name="Text 6"/>
          <p:cNvSpPr txBox="1"/>
          <p:nvPr/>
        </p:nvSpPr>
        <p:spPr>
          <a:xfrm>
            <a:off x="512064"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Order and money data made reliable</a:t>
            </a:r>
            <a:endParaRPr lang="en-US" sz="1050" dirty="0"/>
          </a:p>
        </p:txBody>
      </p:sp>
      <p:sp>
        <p:nvSpPr>
          <p:cNvPr id="10" name="Shape 7"/>
          <p:cNvSpPr/>
          <p:nvPr/>
        </p:nvSpPr>
        <p:spPr>
          <a:xfrm>
            <a:off x="2414016" y="1956816"/>
            <a:ext cx="438912" cy="438912"/>
          </a:xfrm>
          <a:prstGeom prst="ellipse">
            <a:avLst/>
          </a:prstGeom>
          <a:solidFill>
            <a:srgbClr val="0054B4"/>
          </a:solidFill>
          <a:ln w="12700">
            <a:solidFill>
              <a:srgbClr val="0054B4"/>
            </a:solidFill>
            <a:prstDash val="solid"/>
          </a:ln>
        </p:spPr>
      </p:sp>
      <p:sp>
        <p:nvSpPr>
          <p:cNvPr id="11" name="Text 8"/>
          <p:cNvSpPr txBox="1"/>
          <p:nvPr/>
        </p:nvSpPr>
        <p:spPr>
          <a:xfrm>
            <a:off x="2414016"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2377440"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Online payments</a:t>
            </a:r>
            <a:endParaRPr lang="en-US" sz="1250" dirty="0"/>
          </a:p>
        </p:txBody>
      </p:sp>
      <p:sp>
        <p:nvSpPr>
          <p:cNvPr id="13" name="Text 10"/>
          <p:cNvSpPr txBox="1"/>
          <p:nvPr/>
        </p:nvSpPr>
        <p:spPr>
          <a:xfrm>
            <a:off x="2377440"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Razorpay for over-the-counter orders</a:t>
            </a:r>
            <a:endParaRPr lang="en-US" sz="1050" dirty="0"/>
          </a:p>
        </p:txBody>
      </p:sp>
      <p:sp>
        <p:nvSpPr>
          <p:cNvPr id="14" name="Shape 11"/>
          <p:cNvSpPr/>
          <p:nvPr/>
        </p:nvSpPr>
        <p:spPr>
          <a:xfrm>
            <a:off x="4279392" y="1956816"/>
            <a:ext cx="438912" cy="438912"/>
          </a:xfrm>
          <a:prstGeom prst="ellipse">
            <a:avLst/>
          </a:prstGeom>
          <a:solidFill>
            <a:srgbClr val="0054B4"/>
          </a:solidFill>
          <a:ln w="12700">
            <a:solidFill>
              <a:srgbClr val="0054B4"/>
            </a:solidFill>
            <a:prstDash val="solid"/>
          </a:ln>
        </p:spPr>
      </p:sp>
      <p:sp>
        <p:nvSpPr>
          <p:cNvPr id="15" name="Text 12"/>
          <p:cNvSpPr txBox="1"/>
          <p:nvPr/>
        </p:nvSpPr>
        <p:spPr>
          <a:xfrm>
            <a:off x="4279392"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3"/>
          <p:cNvSpPr txBox="1"/>
          <p:nvPr/>
        </p:nvSpPr>
        <p:spPr>
          <a:xfrm>
            <a:off x="4242816"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Cash on delivery</a:t>
            </a:r>
            <a:endParaRPr lang="en-US" sz="1250" dirty="0"/>
          </a:p>
        </p:txBody>
      </p:sp>
      <p:sp>
        <p:nvSpPr>
          <p:cNvPr id="17" name="Text 14"/>
          <p:cNvSpPr txBox="1"/>
          <p:nvPr/>
        </p:nvSpPr>
        <p:spPr>
          <a:xfrm>
            <a:off x="4242816"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Coverage check and cash reconciliation</a:t>
            </a:r>
            <a:endParaRPr lang="en-US" sz="1050" dirty="0"/>
          </a:p>
        </p:txBody>
      </p:sp>
      <p:sp>
        <p:nvSpPr>
          <p:cNvPr id="18" name="Shape 15"/>
          <p:cNvSpPr/>
          <p:nvPr/>
        </p:nvSpPr>
        <p:spPr>
          <a:xfrm>
            <a:off x="6144768" y="1956816"/>
            <a:ext cx="438912" cy="438912"/>
          </a:xfrm>
          <a:prstGeom prst="ellipse">
            <a:avLst/>
          </a:prstGeom>
          <a:solidFill>
            <a:srgbClr val="0054B4"/>
          </a:solidFill>
          <a:ln w="12700">
            <a:solidFill>
              <a:srgbClr val="0054B4"/>
            </a:solidFill>
            <a:prstDash val="solid"/>
          </a:ln>
        </p:spPr>
      </p:sp>
      <p:sp>
        <p:nvSpPr>
          <p:cNvPr id="19" name="Text 16"/>
          <p:cNvSpPr txBox="1"/>
          <p:nvPr/>
        </p:nvSpPr>
        <p:spPr>
          <a:xfrm>
            <a:off x="6144768"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txBox="1"/>
          <p:nvPr/>
        </p:nvSpPr>
        <p:spPr>
          <a:xfrm>
            <a:off x="6108192"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Courier link-up</a:t>
            </a:r>
            <a:endParaRPr lang="en-US" sz="1250" dirty="0"/>
          </a:p>
        </p:txBody>
      </p:sp>
      <p:sp>
        <p:nvSpPr>
          <p:cNvPr id="21" name="Text 18"/>
          <p:cNvSpPr txBox="1"/>
          <p:nvPr/>
        </p:nvSpPr>
        <p:spPr>
          <a:xfrm>
            <a:off x="6108192"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Labels, tracking, delivery updates</a:t>
            </a:r>
            <a:endParaRPr lang="en-US" sz="1050" dirty="0"/>
          </a:p>
        </p:txBody>
      </p:sp>
      <p:sp>
        <p:nvSpPr>
          <p:cNvPr id="22" name="Shape 19"/>
          <p:cNvSpPr/>
          <p:nvPr/>
        </p:nvSpPr>
        <p:spPr>
          <a:xfrm>
            <a:off x="8010144" y="1956816"/>
            <a:ext cx="438912" cy="438912"/>
          </a:xfrm>
          <a:prstGeom prst="ellipse">
            <a:avLst/>
          </a:prstGeom>
          <a:solidFill>
            <a:srgbClr val="0054B4"/>
          </a:solidFill>
          <a:ln w="12700">
            <a:solidFill>
              <a:srgbClr val="0054B4"/>
            </a:solidFill>
            <a:prstDash val="solid"/>
          </a:ln>
        </p:spPr>
      </p:sp>
      <p:sp>
        <p:nvSpPr>
          <p:cNvPr id="23" name="Text 20"/>
          <p:cNvSpPr txBox="1"/>
          <p:nvPr/>
        </p:nvSpPr>
        <p:spPr>
          <a:xfrm>
            <a:off x="8010144"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1"/>
          <p:cNvSpPr txBox="1"/>
          <p:nvPr/>
        </p:nvSpPr>
        <p:spPr>
          <a:xfrm>
            <a:off x="7973568"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Prescription flow</a:t>
            </a:r>
            <a:endParaRPr lang="en-US" sz="1250" dirty="0"/>
          </a:p>
        </p:txBody>
      </p:sp>
      <p:sp>
        <p:nvSpPr>
          <p:cNvPr id="25" name="Text 22"/>
          <p:cNvSpPr txBox="1"/>
          <p:nvPr/>
        </p:nvSpPr>
        <p:spPr>
          <a:xfrm>
            <a:off x="7973568"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Pharmacist approval before payment</a:t>
            </a:r>
            <a:endParaRPr lang="en-US" sz="1050" dirty="0"/>
          </a:p>
        </p:txBody>
      </p:sp>
      <p:sp>
        <p:nvSpPr>
          <p:cNvPr id="26" name="Shape 23"/>
          <p:cNvSpPr/>
          <p:nvPr/>
        </p:nvSpPr>
        <p:spPr>
          <a:xfrm>
            <a:off x="9875520" y="1956816"/>
            <a:ext cx="438912" cy="438912"/>
          </a:xfrm>
          <a:prstGeom prst="ellipse">
            <a:avLst/>
          </a:prstGeom>
          <a:solidFill>
            <a:srgbClr val="0054B4"/>
          </a:solidFill>
          <a:ln w="12700">
            <a:solidFill>
              <a:srgbClr val="0054B4"/>
            </a:solidFill>
            <a:prstDash val="solid"/>
          </a:ln>
        </p:spPr>
      </p:sp>
      <p:sp>
        <p:nvSpPr>
          <p:cNvPr id="27" name="Text 24"/>
          <p:cNvSpPr txBox="1"/>
          <p:nvPr/>
        </p:nvSpPr>
        <p:spPr>
          <a:xfrm>
            <a:off x="9875520" y="19568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8" name="Text 25"/>
          <p:cNvSpPr txBox="1"/>
          <p:nvPr/>
        </p:nvSpPr>
        <p:spPr>
          <a:xfrm>
            <a:off x="9838944" y="2560320"/>
            <a:ext cx="1773936" cy="310896"/>
          </a:xfrm>
          <a:prstGeom prst="rect">
            <a:avLst/>
          </a:prstGeom>
          <a:noFill/>
          <a:ln/>
        </p:spPr>
        <p:txBody>
          <a:bodyPr wrap="square" lIns="0" tIns="0" rIns="0" bIns="0" rtlCol="0" anchor="ctr"/>
          <a:lstStyle/>
          <a:p>
            <a:pPr indent="0" marL="0">
              <a:buNone/>
            </a:pPr>
            <a:r>
              <a:rPr lang="en-US" sz="1250" b="1" dirty="0">
                <a:solidFill>
                  <a:srgbClr val="16222E"/>
                </a:solidFill>
                <a:latin typeface="Calibri" pitchFamily="34" charset="0"/>
                <a:ea typeface="Calibri" pitchFamily="34" charset="-122"/>
                <a:cs typeface="Calibri" pitchFamily="34" charset="-120"/>
              </a:rPr>
              <a:t>Returns &amp; reports</a:t>
            </a:r>
            <a:endParaRPr lang="en-US" sz="1250" dirty="0"/>
          </a:p>
        </p:txBody>
      </p:sp>
      <p:sp>
        <p:nvSpPr>
          <p:cNvPr id="29" name="Text 26"/>
          <p:cNvSpPr txBox="1"/>
          <p:nvPr/>
        </p:nvSpPr>
        <p:spPr>
          <a:xfrm>
            <a:off x="9838944" y="2871216"/>
            <a:ext cx="1737360" cy="658368"/>
          </a:xfrm>
          <a:prstGeom prst="rect">
            <a:avLst/>
          </a:prstGeom>
          <a:noFill/>
          <a:ln/>
        </p:spPr>
        <p:txBody>
          <a:bodyPr wrap="square" lIns="0" tIns="0" rIns="0" bIns="0" rtlCol="0" anchor="ctr"/>
          <a:lstStyle/>
          <a:p>
            <a:pPr indent="0" marL="0">
              <a:lnSpc>
                <a:spcPts val="1400"/>
              </a:lnSpc>
              <a:buNone/>
            </a:pPr>
            <a:r>
              <a:rPr lang="en-US" sz="1050" dirty="0">
                <a:solidFill>
                  <a:srgbClr val="5A6B7D"/>
                </a:solidFill>
                <a:latin typeface="Calibri" pitchFamily="34" charset="0"/>
                <a:ea typeface="Calibri" pitchFamily="34" charset="-122"/>
                <a:cs typeface="Calibri" pitchFamily="34" charset="-120"/>
              </a:rPr>
              <a:t>Refunds, settlement, finance export</a:t>
            </a:r>
            <a:endParaRPr lang="en-US" sz="1050" dirty="0"/>
          </a:p>
        </p:txBody>
      </p:sp>
      <p:sp>
        <p:nvSpPr>
          <p:cNvPr id="30" name="Shape 27"/>
          <p:cNvSpPr/>
          <p:nvPr/>
        </p:nvSpPr>
        <p:spPr>
          <a:xfrm>
            <a:off x="548640" y="3913632"/>
            <a:ext cx="5257800" cy="1783080"/>
          </a:xfrm>
          <a:prstGeom prst="roundRect">
            <a:avLst>
              <a:gd name="adj" fmla="val 3077"/>
            </a:avLst>
          </a:prstGeom>
          <a:solidFill>
            <a:srgbClr val="FFFFFF"/>
          </a:solidFill>
          <a:ln w="12700">
            <a:solidFill>
              <a:srgbClr val="D9E2EC"/>
            </a:solidFill>
            <a:prstDash val="solid"/>
          </a:ln>
        </p:spPr>
      </p:sp>
      <p:sp>
        <p:nvSpPr>
          <p:cNvPr id="31" name="Text 28"/>
          <p:cNvSpPr txBox="1"/>
          <p:nvPr/>
        </p:nvSpPr>
        <p:spPr>
          <a:xfrm>
            <a:off x="859536" y="4133088"/>
            <a:ext cx="4663440" cy="329184"/>
          </a:xfrm>
          <a:prstGeom prst="rect">
            <a:avLst/>
          </a:prstGeom>
          <a:noFill/>
          <a:ln/>
        </p:spPr>
        <p:txBody>
          <a:bodyPr wrap="square" lIns="0" tIns="0" rIns="0" bIns="0" rtlCol="0" anchor="ctr"/>
          <a:lstStyle/>
          <a:p>
            <a:pPr indent="0" marL="0">
              <a:buNone/>
            </a:pPr>
            <a:r>
              <a:rPr lang="en-US" sz="1500" b="1" dirty="0">
                <a:solidFill>
                  <a:srgbClr val="0054B4"/>
                </a:solidFill>
                <a:latin typeface="Calibri" pitchFamily="34" charset="0"/>
                <a:ea typeface="Calibri" pitchFamily="34" charset="-122"/>
                <a:cs typeface="Calibri" pitchFamily="34" charset="-120"/>
              </a:rPr>
              <a:t>Payments — Razorpay</a:t>
            </a:r>
            <a:endParaRPr lang="en-US" sz="1500" dirty="0"/>
          </a:p>
        </p:txBody>
      </p:sp>
      <p:sp>
        <p:nvSpPr>
          <p:cNvPr id="32" name="Text 29"/>
          <p:cNvSpPr txBox="1"/>
          <p:nvPr/>
        </p:nvSpPr>
        <p:spPr>
          <a:xfrm>
            <a:off x="859536" y="4498848"/>
            <a:ext cx="4663440" cy="105156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Cards, UPI, net banking and wallets, plus cash on delivery from launch. Over-the-counter orders pay at checkout. Prescription orders pay only after a pharmacist has approved the items, so we never hold money for medicine we cannot lawfully supply.</a:t>
            </a:r>
            <a:endParaRPr lang="en-US" sz="1150" dirty="0"/>
          </a:p>
        </p:txBody>
      </p:sp>
      <p:sp>
        <p:nvSpPr>
          <p:cNvPr id="33" name="Shape 30"/>
          <p:cNvSpPr/>
          <p:nvPr/>
        </p:nvSpPr>
        <p:spPr>
          <a:xfrm>
            <a:off x="6355080" y="3913632"/>
            <a:ext cx="5257800" cy="1783080"/>
          </a:xfrm>
          <a:prstGeom prst="roundRect">
            <a:avLst>
              <a:gd name="adj" fmla="val 3077"/>
            </a:avLst>
          </a:prstGeom>
          <a:solidFill>
            <a:srgbClr val="FFFFFF"/>
          </a:solidFill>
          <a:ln w="12700">
            <a:solidFill>
              <a:srgbClr val="D9E2EC"/>
            </a:solidFill>
            <a:prstDash val="solid"/>
          </a:ln>
        </p:spPr>
      </p:sp>
      <p:sp>
        <p:nvSpPr>
          <p:cNvPr id="34" name="Text 31"/>
          <p:cNvSpPr txBox="1"/>
          <p:nvPr/>
        </p:nvSpPr>
        <p:spPr>
          <a:xfrm>
            <a:off x="6665976" y="4133088"/>
            <a:ext cx="4663440" cy="329184"/>
          </a:xfrm>
          <a:prstGeom prst="rect">
            <a:avLst/>
          </a:prstGeom>
          <a:noFill/>
          <a:ln/>
        </p:spPr>
        <p:txBody>
          <a:bodyPr wrap="square" lIns="0" tIns="0" rIns="0" bIns="0" rtlCol="0" anchor="ctr"/>
          <a:lstStyle/>
          <a:p>
            <a:pPr indent="0" marL="0">
              <a:buNone/>
            </a:pPr>
            <a:r>
              <a:rPr lang="en-US" sz="1500" b="1" dirty="0">
                <a:solidFill>
                  <a:srgbClr val="FC7800"/>
                </a:solidFill>
                <a:latin typeface="Calibri" pitchFamily="34" charset="0"/>
                <a:ea typeface="Calibri" pitchFamily="34" charset="-122"/>
                <a:cs typeface="Calibri" pitchFamily="34" charset="-120"/>
              </a:rPr>
              <a:t>Delivery — logistics aggregator</a:t>
            </a:r>
            <a:endParaRPr lang="en-US" sz="1500" dirty="0"/>
          </a:p>
        </p:txBody>
      </p:sp>
      <p:sp>
        <p:nvSpPr>
          <p:cNvPr id="35" name="Text 32"/>
          <p:cNvSpPr txBox="1"/>
          <p:nvPr/>
        </p:nvSpPr>
        <p:spPr>
          <a:xfrm>
            <a:off x="6665976" y="4498848"/>
            <a:ext cx="4663440" cy="1051560"/>
          </a:xfrm>
          <a:prstGeom prst="rect">
            <a:avLst/>
          </a:prstGeom>
          <a:noFill/>
          <a:ln/>
        </p:spPr>
        <p:txBody>
          <a:bodyPr wrap="square" lIns="0" tIns="0" rIns="0" bIns="0" rtlCol="0" anchor="ctr"/>
          <a:lstStyle/>
          <a:p>
            <a:pPr indent="0" marL="0">
              <a:lnSpc>
                <a:spcPts val="1600"/>
              </a:lnSpc>
              <a:buNone/>
            </a:pPr>
            <a:r>
              <a:rPr lang="en-US" sz="1150" dirty="0">
                <a:solidFill>
                  <a:srgbClr val="5A6B7D"/>
                </a:solidFill>
                <a:latin typeface="Calibri" pitchFamily="34" charset="0"/>
                <a:ea typeface="Calibri" pitchFamily="34" charset="-122"/>
                <a:cs typeface="Calibri" pitchFamily="34" charset="-120"/>
              </a:rPr>
              <a:t>A single integration reaching many couriers nationally. Delivery coverage is checked while the customer is still choosing, not after they have paid, and tracking updates flow back automatically into order status.</a:t>
            </a:r>
            <a:endParaRPr lang="en-US" sz="1150" dirty="0"/>
          </a:p>
        </p:txBody>
      </p:sp>
      <p:sp>
        <p:nvSpPr>
          <p:cNvPr id="36" name="Text 33"/>
          <p:cNvSpPr txBox="1"/>
          <p:nvPr/>
        </p:nvSpPr>
        <p:spPr>
          <a:xfrm>
            <a:off x="548640" y="5925312"/>
            <a:ext cx="11064240" cy="274320"/>
          </a:xfrm>
          <a:prstGeom prst="rect">
            <a:avLst/>
          </a:prstGeom>
          <a:noFill/>
          <a:ln/>
        </p:spPr>
        <p:txBody>
          <a:bodyPr wrap="square" lIns="0" tIns="0" rIns="0" bIns="0" rtlCol="0" anchor="ctr"/>
          <a:lstStyle/>
          <a:p>
            <a:pPr indent="0" marL="0">
              <a:buNone/>
            </a:pPr>
            <a:r>
              <a:rPr lang="en-US" sz="1100" i="1" dirty="0">
                <a:solidFill>
                  <a:srgbClr val="8496A6"/>
                </a:solidFill>
                <a:latin typeface="Calibri" pitchFamily="34" charset="0"/>
                <a:ea typeface="Calibri" pitchFamily="34" charset="-122"/>
                <a:cs typeface="Calibri" pitchFamily="34" charset="-120"/>
              </a:rPr>
              <a:t>Sequencing note: the money path and the delivery path are each proven separately before prescription approval couples them together.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566928"/>
            <a:ext cx="9509760" cy="566928"/>
          </a:xfrm>
          <a:prstGeom prst="rect">
            <a:avLst/>
          </a:prstGeom>
          <a:noFill/>
          <a:ln/>
        </p:spPr>
        <p:txBody>
          <a:bodyPr wrap="square" lIns="0" tIns="0" rIns="0" bIns="0" rtlCol="0" anchor="ctr"/>
          <a:lstStyle/>
          <a:p>
            <a:pPr indent="0" marL="0">
              <a:buNone/>
            </a:pPr>
            <a:r>
              <a:rPr lang="en-US" sz="3100" b="1" dirty="0">
                <a:solidFill>
                  <a:srgbClr val="16222E"/>
                </a:solidFill>
                <a:latin typeface="Cambria" pitchFamily="34" charset="0"/>
                <a:ea typeface="Cambria" pitchFamily="34" charset="-122"/>
                <a:cs typeface="Cambria" pitchFamily="34" charset="-120"/>
              </a:rPr>
              <a:t>Phase 2 — catalogue and WhatsApp commerce</a:t>
            </a:r>
            <a:endParaRPr lang="en-US" sz="3100" dirty="0"/>
          </a:p>
        </p:txBody>
      </p:sp>
      <p:sp>
        <p:nvSpPr>
          <p:cNvPr id="4" name="Text 1"/>
          <p:cNvSpPr txBox="1"/>
          <p:nvPr/>
        </p:nvSpPr>
        <p:spPr>
          <a:xfrm>
            <a:off x="548640" y="1152144"/>
            <a:ext cx="9601200" cy="292608"/>
          </a:xfrm>
          <a:prstGeom prst="rect">
            <a:avLst/>
          </a:prstGeom>
          <a:noFill/>
          <a:ln/>
        </p:spPr>
        <p:txBody>
          <a:bodyPr wrap="square" lIns="0" tIns="0" rIns="0" bIns="0" rtlCol="0" anchor="ctr"/>
          <a:lstStyle/>
          <a:p>
            <a:pPr indent="0" marL="0">
              <a:buNone/>
            </a:pPr>
            <a:r>
              <a:rPr lang="en-US" sz="1350" dirty="0">
                <a:solidFill>
                  <a:srgbClr val="5A6B7D"/>
                </a:solidFill>
                <a:latin typeface="Calibri" pitchFamily="34" charset="0"/>
                <a:ea typeface="Calibri" pitchFamily="34" charset="-122"/>
                <a:cs typeface="Calibri" pitchFamily="34" charset="-120"/>
              </a:rPr>
              <a:t>Scaling what we sell, and meeting customers where they already are.</a:t>
            </a:r>
            <a:endParaRPr lang="en-US" sz="1350" dirty="0"/>
          </a:p>
        </p:txBody>
      </p:sp>
      <p:sp>
        <p:nvSpPr>
          <p:cNvPr id="5" name="Shape 2"/>
          <p:cNvSpPr/>
          <p:nvPr/>
        </p:nvSpPr>
        <p:spPr>
          <a:xfrm>
            <a:off x="548640" y="1783080"/>
            <a:ext cx="5257800" cy="3611880"/>
          </a:xfrm>
          <a:prstGeom prst="roundRect">
            <a:avLst>
              <a:gd name="adj" fmla="val 1519"/>
            </a:avLst>
          </a:prstGeom>
          <a:solidFill>
            <a:srgbClr val="F5F8FC"/>
          </a:solidFill>
          <a:ln w="12700">
            <a:solidFill>
              <a:srgbClr val="D9E2EC"/>
            </a:solidFill>
            <a:prstDash val="solid"/>
          </a:ln>
        </p:spPr>
      </p:sp>
      <p:sp>
        <p:nvSpPr>
          <p:cNvPr id="6" name="Shape 3"/>
          <p:cNvSpPr/>
          <p:nvPr/>
        </p:nvSpPr>
        <p:spPr>
          <a:xfrm>
            <a:off x="859536" y="2029968"/>
            <a:ext cx="420624" cy="420624"/>
          </a:xfrm>
          <a:prstGeom prst="ellipse">
            <a:avLst/>
          </a:prstGeom>
          <a:solidFill>
            <a:srgbClr val="0054B4"/>
          </a:solidFill>
          <a:ln w="12700">
            <a:solidFill>
              <a:srgbClr val="0054B4"/>
            </a:solidFill>
            <a:prstDash val="solid"/>
          </a:ln>
        </p:spPr>
      </p:sp>
      <p:sp>
        <p:nvSpPr>
          <p:cNvPr id="7" name="Text 4"/>
          <p:cNvSpPr txBox="1"/>
          <p:nvPr/>
        </p:nvSpPr>
        <p:spPr>
          <a:xfrm>
            <a:off x="859536" y="20299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426464" y="2029968"/>
            <a:ext cx="4114800" cy="420624"/>
          </a:xfrm>
          <a:prstGeom prst="rect">
            <a:avLst/>
          </a:prstGeom>
          <a:noFill/>
          <a:ln/>
        </p:spPr>
        <p:txBody>
          <a:bodyPr wrap="square" lIns="0" tIns="0" rIns="0" bIns="0" rtlCol="0" anchor="ctr"/>
          <a:lstStyle/>
          <a:p>
            <a:pPr indent="0" marL="0">
              <a:buNone/>
            </a:pPr>
            <a:r>
              <a:rPr lang="en-US" sz="1700" b="1" dirty="0">
                <a:solidFill>
                  <a:srgbClr val="0054B4"/>
                </a:solidFill>
                <a:latin typeface="Calibri" pitchFamily="34" charset="0"/>
                <a:ea typeface="Calibri" pitchFamily="34" charset="-122"/>
                <a:cs typeface="Calibri" pitchFamily="34" charset="-120"/>
              </a:rPr>
              <a:t>Bulk medicine upload</a:t>
            </a:r>
            <a:endParaRPr lang="en-US" sz="1700" dirty="0"/>
          </a:p>
        </p:txBody>
      </p:sp>
      <p:sp>
        <p:nvSpPr>
          <p:cNvPr id="9" name="Text 6"/>
          <p:cNvSpPr txBox="1"/>
          <p:nvPr/>
        </p:nvSpPr>
        <p:spPr>
          <a:xfrm>
            <a:off x="859536" y="2606040"/>
            <a:ext cx="4663440" cy="868680"/>
          </a:xfrm>
          <a:prstGeom prst="rect">
            <a:avLst/>
          </a:prstGeom>
          <a:noFill/>
          <a:ln/>
        </p:spPr>
        <p:txBody>
          <a:bodyPr wrap="square" lIns="0" tIns="0" rIns="0" bIns="0" rtlCol="0" anchor="ctr"/>
          <a:lstStyle/>
          <a:p>
            <a:pPr indent="0" marL="0">
              <a:lnSpc>
                <a:spcPts val="1600"/>
              </a:lnSpc>
              <a:buNone/>
            </a:pPr>
            <a:r>
              <a:rPr lang="en-US" sz="1200" dirty="0">
                <a:solidFill>
                  <a:srgbClr val="5A6B7D"/>
                </a:solidFill>
                <a:latin typeface="Calibri" pitchFamily="34" charset="0"/>
                <a:ea typeface="Calibri" pitchFamily="34" charset="-122"/>
                <a:cs typeface="Calibri" pitchFamily="34" charset="-120"/>
              </a:rPr>
              <a:t>Spreadsheet import for the catalogue, so adding or repricing thousands of products becomes a routine ten-minute operation instead of a project.</a:t>
            </a:r>
            <a:endParaRPr lang="en-US" sz="1200" dirty="0"/>
          </a:p>
        </p:txBody>
      </p:sp>
      <p:sp>
        <p:nvSpPr>
          <p:cNvPr id="10" name="Text 7"/>
          <p:cNvSpPr txBox="1"/>
          <p:nvPr/>
        </p:nvSpPr>
        <p:spPr>
          <a:xfrm>
            <a:off x="987552" y="3584448"/>
            <a:ext cx="4480560" cy="155448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Download a template, fill, upload</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Dry-run validation before anything saves</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Per-row error report, not one vague failure</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Audit trail of who imported what, and when</a:t>
            </a:r>
            <a:endParaRPr lang="en-US" sz="1100" dirty="0"/>
          </a:p>
        </p:txBody>
      </p:sp>
      <p:sp>
        <p:nvSpPr>
          <p:cNvPr id="11" name="Shape 8"/>
          <p:cNvSpPr/>
          <p:nvPr/>
        </p:nvSpPr>
        <p:spPr>
          <a:xfrm>
            <a:off x="6355080" y="1783080"/>
            <a:ext cx="5257800" cy="3611880"/>
          </a:xfrm>
          <a:prstGeom prst="roundRect">
            <a:avLst>
              <a:gd name="adj" fmla="val 1519"/>
            </a:avLst>
          </a:prstGeom>
          <a:solidFill>
            <a:srgbClr val="F5F8FC"/>
          </a:solidFill>
          <a:ln w="12700">
            <a:solidFill>
              <a:srgbClr val="D9E2EC"/>
            </a:solidFill>
            <a:prstDash val="solid"/>
          </a:ln>
        </p:spPr>
      </p:sp>
      <p:sp>
        <p:nvSpPr>
          <p:cNvPr id="12" name="Shape 9"/>
          <p:cNvSpPr/>
          <p:nvPr/>
        </p:nvSpPr>
        <p:spPr>
          <a:xfrm>
            <a:off x="6665976" y="2029968"/>
            <a:ext cx="420624" cy="420624"/>
          </a:xfrm>
          <a:prstGeom prst="ellipse">
            <a:avLst/>
          </a:prstGeom>
          <a:solidFill>
            <a:srgbClr val="FC7800"/>
          </a:solidFill>
          <a:ln w="12700">
            <a:solidFill>
              <a:srgbClr val="FC7800"/>
            </a:solidFill>
            <a:prstDash val="solid"/>
          </a:ln>
        </p:spPr>
      </p:sp>
      <p:sp>
        <p:nvSpPr>
          <p:cNvPr id="13" name="Text 10"/>
          <p:cNvSpPr txBox="1"/>
          <p:nvPr/>
        </p:nvSpPr>
        <p:spPr>
          <a:xfrm>
            <a:off x="6665976" y="202996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7232904" y="2029968"/>
            <a:ext cx="4114800" cy="420624"/>
          </a:xfrm>
          <a:prstGeom prst="rect">
            <a:avLst/>
          </a:prstGeom>
          <a:noFill/>
          <a:ln/>
        </p:spPr>
        <p:txBody>
          <a:bodyPr wrap="square" lIns="0" tIns="0" rIns="0" bIns="0" rtlCol="0" anchor="ctr"/>
          <a:lstStyle/>
          <a:p>
            <a:pPr indent="0" marL="0">
              <a:buNone/>
            </a:pPr>
            <a:r>
              <a:rPr lang="en-US" sz="1700" b="1" dirty="0">
                <a:solidFill>
                  <a:srgbClr val="FC7800"/>
                </a:solidFill>
                <a:latin typeface="Calibri" pitchFamily="34" charset="0"/>
                <a:ea typeface="Calibri" pitchFamily="34" charset="-122"/>
                <a:cs typeface="Calibri" pitchFamily="34" charset="-120"/>
              </a:rPr>
              <a:t>WhatsApp buying</a:t>
            </a:r>
            <a:endParaRPr lang="en-US" sz="1700" dirty="0"/>
          </a:p>
        </p:txBody>
      </p:sp>
      <p:sp>
        <p:nvSpPr>
          <p:cNvPr id="15" name="Text 12"/>
          <p:cNvSpPr txBox="1"/>
          <p:nvPr/>
        </p:nvSpPr>
        <p:spPr>
          <a:xfrm>
            <a:off x="6665976" y="2606040"/>
            <a:ext cx="4663440" cy="868680"/>
          </a:xfrm>
          <a:prstGeom prst="rect">
            <a:avLst/>
          </a:prstGeom>
          <a:noFill/>
          <a:ln/>
        </p:spPr>
        <p:txBody>
          <a:bodyPr wrap="square" lIns="0" tIns="0" rIns="0" bIns="0" rtlCol="0" anchor="ctr"/>
          <a:lstStyle/>
          <a:p>
            <a:pPr indent="0" marL="0">
              <a:lnSpc>
                <a:spcPts val="1600"/>
              </a:lnSpc>
              <a:buNone/>
            </a:pPr>
            <a:r>
              <a:rPr lang="en-US" sz="1200" dirty="0">
                <a:solidFill>
                  <a:srgbClr val="5A6B7D"/>
                </a:solidFill>
                <a:latin typeface="Calibri" pitchFamily="34" charset="0"/>
                <a:ea typeface="Calibri" pitchFamily="34" charset="-122"/>
                <a:cs typeface="Calibri" pitchFamily="34" charset="-120"/>
              </a:rPr>
              <a:t>Customers order without leaving the chat: send a prescription photo, receive matched medicines with prices, confirm and pay in the same conversation.</a:t>
            </a:r>
            <a:endParaRPr lang="en-US" sz="1200" dirty="0"/>
          </a:p>
        </p:txBody>
      </p:sp>
      <p:sp>
        <p:nvSpPr>
          <p:cNvPr id="16" name="Text 13"/>
          <p:cNvSpPr txBox="1"/>
          <p:nvPr/>
        </p:nvSpPr>
        <p:spPr>
          <a:xfrm>
            <a:off x="6793992" y="3584448"/>
            <a:ext cx="4480560" cy="155448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Prescription photo straight into OCR</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Suggested items with prices in-chat</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Confirm and pay without an app install</a:t>
            </a:r>
            <a:endParaRPr lang="en-US" sz="1100" dirty="0"/>
          </a:p>
          <a:p>
            <a:pPr marL="342900" indent="-342900">
              <a:lnSpc>
                <a:spcPts val="1500"/>
              </a:lnSpc>
              <a:spcAft>
                <a:spcPts val="700"/>
              </a:spcAft>
              <a:buSzPct val="100000"/>
              <a:buChar char="•"/>
            </a:pPr>
            <a:r>
              <a:rPr lang="en-US" sz="1100" dirty="0">
                <a:solidFill>
                  <a:srgbClr val="16222E"/>
                </a:solidFill>
                <a:latin typeface="Calibri" pitchFamily="34" charset="0"/>
                <a:ea typeface="Calibri" pitchFamily="34" charset="-122"/>
                <a:cs typeface="Calibri" pitchFamily="34" charset="-120"/>
              </a:rPr>
              <a:t>Reaches customers who never download apps</a:t>
            </a:r>
            <a:endParaRPr lang="en-US" sz="1100" dirty="0"/>
          </a:p>
        </p:txBody>
      </p:sp>
      <p:sp>
        <p:nvSpPr>
          <p:cNvPr id="17" name="Shape 14"/>
          <p:cNvSpPr/>
          <p:nvPr/>
        </p:nvSpPr>
        <p:spPr>
          <a:xfrm>
            <a:off x="548640" y="5541264"/>
            <a:ext cx="11064240" cy="658368"/>
          </a:xfrm>
          <a:prstGeom prst="roundRect">
            <a:avLst>
              <a:gd name="adj" fmla="val 8333"/>
            </a:avLst>
          </a:prstGeom>
          <a:solidFill>
            <a:srgbClr val="FFF4E8"/>
          </a:solidFill>
          <a:ln w="12700">
            <a:solidFill>
              <a:srgbClr val="F5CFA4"/>
            </a:solidFill>
            <a:prstDash val="solid"/>
          </a:ln>
        </p:spPr>
      </p:sp>
      <p:sp>
        <p:nvSpPr>
          <p:cNvPr id="18" name="Shape 15"/>
          <p:cNvSpPr/>
          <p:nvPr/>
        </p:nvSpPr>
        <p:spPr>
          <a:xfrm>
            <a:off x="804672" y="5678424"/>
            <a:ext cx="384048" cy="384048"/>
          </a:xfrm>
          <a:prstGeom prst="ellipse">
            <a:avLst/>
          </a:prstGeom>
          <a:solidFill>
            <a:srgbClr val="FC7800"/>
          </a:solidFill>
          <a:ln w="12700">
            <a:solidFill>
              <a:srgbClr val="FC7800"/>
            </a:solidFill>
            <a:prstDash val="solid"/>
          </a:ln>
        </p:spPr>
      </p:sp>
      <p:sp>
        <p:nvSpPr>
          <p:cNvPr id="19" name="Text 16"/>
          <p:cNvSpPr txBox="1"/>
          <p:nvPr/>
        </p:nvSpPr>
        <p:spPr>
          <a:xfrm>
            <a:off x="804672" y="56784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7"/>
          <p:cNvSpPr txBox="1"/>
          <p:nvPr/>
        </p:nvSpPr>
        <p:spPr>
          <a:xfrm>
            <a:off x="1371600" y="5660136"/>
            <a:ext cx="10058400" cy="420624"/>
          </a:xfrm>
          <a:prstGeom prst="rect">
            <a:avLst/>
          </a:prstGeom>
          <a:noFill/>
          <a:ln/>
        </p:spPr>
        <p:txBody>
          <a:bodyPr wrap="square" lIns="0" tIns="0" rIns="0" bIns="0" rtlCol="0" anchor="ctr"/>
          <a:lstStyle/>
          <a:p>
            <a:pPr indent="0" marL="0">
              <a:buNone/>
            </a:pPr>
            <a:r>
              <a:rPr lang="en-US" sz="1200" dirty="0">
                <a:solidFill>
                  <a:srgbClr val="7A4A16"/>
                </a:solidFill>
                <a:latin typeface="Calibri" pitchFamily="34" charset="0"/>
                <a:ea typeface="Calibri" pitchFamily="34" charset="-122"/>
                <a:cs typeface="Calibri" pitchFamily="34" charset="-120"/>
              </a:rPr>
              <a:t>WhatsApp buying depends on Phase 1. Taking payment inside a chat needs the payment and delivery work finished first — it cannot be pulled forward.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2E"/>
        </a:solidFill>
      </p:bgPr>
    </p:bg>
    <p:spTree>
      <p:nvGrpSpPr>
        <p:cNvPr id="1" name=""/>
        <p:cNvGrpSpPr/>
        <p:nvPr/>
      </p:nvGrpSpPr>
      <p:grpSpPr>
        <a:xfrm>
          <a:off x="0" y="0"/>
          <a:ext cx="0" cy="0"/>
          <a:chOff x="0" y="0"/>
          <a:chExt cx="0" cy="0"/>
        </a:xfrm>
      </p:grpSpPr>
      <p:pic>
        <p:nvPicPr>
          <p:cNvPr id="2" name="Image 0" descr="/home/claude/deck/logo-color.png">    </p:cNvPr>
          <p:cNvPicPr>
            <a:picLocks noChangeAspect="1"/>
          </p:cNvPicPr>
          <p:nvPr/>
        </p:nvPicPr>
        <p:blipFill>
          <a:blip r:embed="rId1"/>
          <a:stretch>
            <a:fillRect/>
          </a:stretch>
        </p:blipFill>
        <p:spPr>
          <a:xfrm>
            <a:off x="10314432" y="411480"/>
            <a:ext cx="1298448" cy="438073"/>
          </a:xfrm>
          <a:prstGeom prst="rect">
            <a:avLst/>
          </a:prstGeom>
        </p:spPr>
      </p:pic>
      <p:sp>
        <p:nvSpPr>
          <p:cNvPr id="3" name="Text 0"/>
          <p:cNvSpPr txBox="1"/>
          <p:nvPr/>
        </p:nvSpPr>
        <p:spPr>
          <a:xfrm>
            <a:off x="548640" y="566928"/>
            <a:ext cx="9144000" cy="566928"/>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Current research</a:t>
            </a:r>
            <a:endParaRPr lang="en-US" sz="3300" dirty="0"/>
          </a:p>
        </p:txBody>
      </p:sp>
      <p:sp>
        <p:nvSpPr>
          <p:cNvPr id="4" name="Text 1"/>
          <p:cNvSpPr txBox="1"/>
          <p:nvPr/>
        </p:nvSpPr>
        <p:spPr>
          <a:xfrm>
            <a:off x="548640" y="1152144"/>
            <a:ext cx="10607040" cy="292608"/>
          </a:xfrm>
          <a:prstGeom prst="rect">
            <a:avLst/>
          </a:prstGeom>
          <a:noFill/>
          <a:ln/>
        </p:spPr>
        <p:txBody>
          <a:bodyPr wrap="square" lIns="0" tIns="0" rIns="0" bIns="0" rtlCol="0" anchor="ctr"/>
          <a:lstStyle/>
          <a:p>
            <a:pPr indent="0" marL="0">
              <a:buNone/>
            </a:pPr>
            <a:r>
              <a:rPr lang="en-US" sz="1350" dirty="0">
                <a:solidFill>
                  <a:srgbClr val="9BABBC"/>
                </a:solidFill>
                <a:latin typeface="Calibri" pitchFamily="34" charset="0"/>
                <a:ea typeface="Calibri" pitchFamily="34" charset="-122"/>
                <a:cs typeface="Calibri" pitchFamily="34" charset="-120"/>
              </a:rPr>
              <a:t>Four open evaluations. Each is being compared against the alternatives on cost, coverage and fit before we commit.</a:t>
            </a:r>
            <a:endParaRPr lang="en-US" sz="1350" dirty="0"/>
          </a:p>
        </p:txBody>
      </p:sp>
      <p:sp>
        <p:nvSpPr>
          <p:cNvPr id="5" name="Shape 2"/>
          <p:cNvSpPr/>
          <p:nvPr/>
        </p:nvSpPr>
        <p:spPr>
          <a:xfrm>
            <a:off x="548640" y="1773936"/>
            <a:ext cx="5257800" cy="1938528"/>
          </a:xfrm>
          <a:prstGeom prst="roundRect">
            <a:avLst>
              <a:gd name="adj" fmla="val 2830"/>
            </a:avLst>
          </a:prstGeom>
          <a:solidFill>
            <a:srgbClr val="13263D"/>
          </a:solidFill>
          <a:ln w="12700">
            <a:solidFill>
              <a:srgbClr val="22384F"/>
            </a:solidFill>
            <a:prstDash val="solid"/>
          </a:ln>
        </p:spPr>
      </p:sp>
      <p:sp>
        <p:nvSpPr>
          <p:cNvPr id="6" name="Shape 3"/>
          <p:cNvSpPr/>
          <p:nvPr/>
        </p:nvSpPr>
        <p:spPr>
          <a:xfrm>
            <a:off x="822960" y="2011680"/>
            <a:ext cx="384048" cy="384048"/>
          </a:xfrm>
          <a:prstGeom prst="ellipse">
            <a:avLst/>
          </a:prstGeom>
          <a:solidFill>
            <a:srgbClr val="FC7800"/>
          </a:solidFill>
          <a:ln w="12700">
            <a:solidFill>
              <a:srgbClr val="FC7800"/>
            </a:solidFill>
            <a:prstDash val="solid"/>
          </a:ln>
        </p:spPr>
      </p:sp>
      <p:sp>
        <p:nvSpPr>
          <p:cNvPr id="7" name="Text 4"/>
          <p:cNvSpPr txBox="1"/>
          <p:nvPr/>
        </p:nvSpPr>
        <p:spPr>
          <a:xfrm>
            <a:off x="82296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5"/>
          <p:cNvSpPr txBox="1"/>
          <p:nvPr/>
        </p:nvSpPr>
        <p:spPr>
          <a:xfrm>
            <a:off x="1353312" y="2011680"/>
            <a:ext cx="4206240"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Payment gateway</a:t>
            </a:r>
            <a:endParaRPr lang="en-US" sz="1550" dirty="0"/>
          </a:p>
        </p:txBody>
      </p:sp>
      <p:sp>
        <p:nvSpPr>
          <p:cNvPr id="9" name="Text 6"/>
          <p:cNvSpPr txBox="1"/>
          <p:nvPr/>
        </p:nvSpPr>
        <p:spPr>
          <a:xfrm>
            <a:off x="822960" y="2505456"/>
            <a:ext cx="1828800" cy="201168"/>
          </a:xfrm>
          <a:prstGeom prst="rect">
            <a:avLst/>
          </a:prstGeom>
          <a:noFill/>
          <a:ln/>
        </p:spPr>
        <p:txBody>
          <a:bodyPr wrap="square" lIns="0" tIns="0" rIns="0" bIns="0" rtlCol="0" anchor="ctr"/>
          <a:lstStyle/>
          <a:p>
            <a:pPr indent="0" marL="0">
              <a:buNone/>
            </a:pPr>
            <a:r>
              <a:rPr lang="en-US" sz="900" b="1" spc="160" kern="0" dirty="0">
                <a:solidFill>
                  <a:srgbClr val="FF9838"/>
                </a:solidFill>
                <a:latin typeface="Calibri" pitchFamily="34" charset="0"/>
                <a:ea typeface="Calibri" pitchFamily="34" charset="-122"/>
                <a:cs typeface="Calibri" pitchFamily="34" charset="-120"/>
              </a:rPr>
              <a:t>COMPARING</a:t>
            </a:r>
            <a:endParaRPr lang="en-US" sz="900" dirty="0"/>
          </a:p>
        </p:txBody>
      </p:sp>
      <p:sp>
        <p:nvSpPr>
          <p:cNvPr id="10" name="Text 7"/>
          <p:cNvSpPr txBox="1"/>
          <p:nvPr/>
        </p:nvSpPr>
        <p:spPr>
          <a:xfrm>
            <a:off x="822960" y="2688336"/>
            <a:ext cx="4709160" cy="237744"/>
          </a:xfrm>
          <a:prstGeom prst="rect">
            <a:avLst/>
          </a:prstGeom>
          <a:noFill/>
          <a:ln/>
        </p:spPr>
        <p:txBody>
          <a:bodyPr wrap="square" lIns="0" tIns="0" rIns="0" bIns="0" rtlCol="0" anchor="ctr"/>
          <a:lstStyle/>
          <a:p>
            <a:pPr indent="0" marL="0">
              <a:buNone/>
            </a:pPr>
            <a:r>
              <a:rPr lang="en-US" sz="1150" b="1" dirty="0">
                <a:solidFill>
                  <a:srgbClr val="DCE6F0"/>
                </a:solidFill>
                <a:latin typeface="Calibri" pitchFamily="34" charset="0"/>
                <a:ea typeface="Calibri" pitchFamily="34" charset="-122"/>
                <a:cs typeface="Calibri" pitchFamily="34" charset="-120"/>
              </a:rPr>
              <a:t>Razorpay  ·  Cashfree  ·  PayU  ·  PhonePe PG</a:t>
            </a:r>
            <a:endParaRPr lang="en-US" sz="1150" dirty="0"/>
          </a:p>
        </p:txBody>
      </p:sp>
      <p:sp>
        <p:nvSpPr>
          <p:cNvPr id="11" name="Text 8"/>
          <p:cNvSpPr txBox="1"/>
          <p:nvPr/>
        </p:nvSpPr>
        <p:spPr>
          <a:xfrm>
            <a:off x="822960" y="2962656"/>
            <a:ext cx="1828800" cy="201168"/>
          </a:xfrm>
          <a:prstGeom prst="rect">
            <a:avLst/>
          </a:prstGeom>
          <a:noFill/>
          <a:ln/>
        </p:spPr>
        <p:txBody>
          <a:bodyPr wrap="square" lIns="0" tIns="0" rIns="0" bIns="0" rtlCol="0" anchor="ctr"/>
          <a:lstStyle/>
          <a:p>
            <a:pPr indent="0" marL="0">
              <a:buNone/>
            </a:pPr>
            <a:r>
              <a:rPr lang="en-US" sz="900" b="1" spc="160" kern="0" dirty="0">
                <a:solidFill>
                  <a:srgbClr val="FF9838"/>
                </a:solidFill>
                <a:latin typeface="Calibri" pitchFamily="34" charset="0"/>
                <a:ea typeface="Calibri" pitchFamily="34" charset="-122"/>
                <a:cs typeface="Calibri" pitchFamily="34" charset="-120"/>
              </a:rPr>
              <a:t>DECIDING ON</a:t>
            </a:r>
            <a:endParaRPr lang="en-US" sz="900" dirty="0"/>
          </a:p>
        </p:txBody>
      </p:sp>
      <p:sp>
        <p:nvSpPr>
          <p:cNvPr id="12" name="Text 9"/>
          <p:cNvSpPr txBox="1"/>
          <p:nvPr/>
        </p:nvSpPr>
        <p:spPr>
          <a:xfrm>
            <a:off x="822960" y="3145536"/>
            <a:ext cx="4709160" cy="512064"/>
          </a:xfrm>
          <a:prstGeom prst="rect">
            <a:avLst/>
          </a:prstGeom>
          <a:noFill/>
          <a:ln/>
        </p:spPr>
        <p:txBody>
          <a:bodyPr wrap="square" lIns="0" tIns="0" rIns="0" bIns="0" rtlCol="0" anchor="ctr"/>
          <a:lstStyle/>
          <a:p>
            <a:pPr indent="0" marL="0">
              <a:lnSpc>
                <a:spcPts val="1400"/>
              </a:lnSpc>
              <a:buNone/>
            </a:pPr>
            <a:r>
              <a:rPr lang="en-US" sz="1050" dirty="0">
                <a:solidFill>
                  <a:srgbClr val="9BABBC"/>
                </a:solidFill>
                <a:latin typeface="Calibri" pitchFamily="34" charset="0"/>
                <a:ea typeface="Calibri" pitchFamily="34" charset="-122"/>
                <a:cs typeface="Calibri" pitchFamily="34" charset="-120"/>
              </a:rPr>
              <a:t>Approval for the pharmacy category, whether UPI supports a hold-then-capture flow, settlement cycle, and effective cost per transaction.</a:t>
            </a:r>
            <a:endParaRPr lang="en-US" sz="1050" dirty="0"/>
          </a:p>
        </p:txBody>
      </p:sp>
      <p:sp>
        <p:nvSpPr>
          <p:cNvPr id="13" name="Shape 10"/>
          <p:cNvSpPr/>
          <p:nvPr/>
        </p:nvSpPr>
        <p:spPr>
          <a:xfrm>
            <a:off x="6355080" y="1773936"/>
            <a:ext cx="5257800" cy="1938528"/>
          </a:xfrm>
          <a:prstGeom prst="roundRect">
            <a:avLst>
              <a:gd name="adj" fmla="val 2830"/>
            </a:avLst>
          </a:prstGeom>
          <a:solidFill>
            <a:srgbClr val="13263D"/>
          </a:solidFill>
          <a:ln w="12700">
            <a:solidFill>
              <a:srgbClr val="22384F"/>
            </a:solidFill>
            <a:prstDash val="solid"/>
          </a:ln>
        </p:spPr>
      </p:sp>
      <p:sp>
        <p:nvSpPr>
          <p:cNvPr id="14" name="Shape 11"/>
          <p:cNvSpPr/>
          <p:nvPr/>
        </p:nvSpPr>
        <p:spPr>
          <a:xfrm>
            <a:off x="6629400" y="2011680"/>
            <a:ext cx="384048" cy="384048"/>
          </a:xfrm>
          <a:prstGeom prst="ellipse">
            <a:avLst/>
          </a:prstGeom>
          <a:solidFill>
            <a:srgbClr val="FC7800"/>
          </a:solidFill>
          <a:ln w="12700">
            <a:solidFill>
              <a:srgbClr val="FC7800"/>
            </a:solidFill>
            <a:prstDash val="solid"/>
          </a:ln>
        </p:spPr>
      </p:sp>
      <p:sp>
        <p:nvSpPr>
          <p:cNvPr id="15" name="Text 12"/>
          <p:cNvSpPr txBox="1"/>
          <p:nvPr/>
        </p:nvSpPr>
        <p:spPr>
          <a:xfrm>
            <a:off x="6629400" y="2011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6" name="Text 13"/>
          <p:cNvSpPr txBox="1"/>
          <p:nvPr/>
        </p:nvSpPr>
        <p:spPr>
          <a:xfrm>
            <a:off x="7159752" y="2011680"/>
            <a:ext cx="4206240"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Logistics partner</a:t>
            </a:r>
            <a:endParaRPr lang="en-US" sz="1550" dirty="0"/>
          </a:p>
        </p:txBody>
      </p:sp>
      <p:sp>
        <p:nvSpPr>
          <p:cNvPr id="17" name="Text 14"/>
          <p:cNvSpPr txBox="1"/>
          <p:nvPr/>
        </p:nvSpPr>
        <p:spPr>
          <a:xfrm>
            <a:off x="6629400" y="2505456"/>
            <a:ext cx="1828800" cy="201168"/>
          </a:xfrm>
          <a:prstGeom prst="rect">
            <a:avLst/>
          </a:prstGeom>
          <a:noFill/>
          <a:ln/>
        </p:spPr>
        <p:txBody>
          <a:bodyPr wrap="square" lIns="0" tIns="0" rIns="0" bIns="0" rtlCol="0" anchor="ctr"/>
          <a:lstStyle/>
          <a:p>
            <a:pPr indent="0" marL="0">
              <a:buNone/>
            </a:pPr>
            <a:r>
              <a:rPr lang="en-US" sz="900" b="1" spc="160" kern="0" dirty="0">
                <a:solidFill>
                  <a:srgbClr val="FF9838"/>
                </a:solidFill>
                <a:latin typeface="Calibri" pitchFamily="34" charset="0"/>
                <a:ea typeface="Calibri" pitchFamily="34" charset="-122"/>
                <a:cs typeface="Calibri" pitchFamily="34" charset="-120"/>
              </a:rPr>
              <a:t>COMPARING</a:t>
            </a:r>
            <a:endParaRPr lang="en-US" sz="900" dirty="0"/>
          </a:p>
        </p:txBody>
      </p:sp>
      <p:sp>
        <p:nvSpPr>
          <p:cNvPr id="18" name="Text 15"/>
          <p:cNvSpPr txBox="1"/>
          <p:nvPr/>
        </p:nvSpPr>
        <p:spPr>
          <a:xfrm>
            <a:off x="6629400" y="2688336"/>
            <a:ext cx="4709160" cy="237744"/>
          </a:xfrm>
          <a:prstGeom prst="rect">
            <a:avLst/>
          </a:prstGeom>
          <a:noFill/>
          <a:ln/>
        </p:spPr>
        <p:txBody>
          <a:bodyPr wrap="square" lIns="0" tIns="0" rIns="0" bIns="0" rtlCol="0" anchor="ctr"/>
          <a:lstStyle/>
          <a:p>
            <a:pPr indent="0" marL="0">
              <a:buNone/>
            </a:pPr>
            <a:r>
              <a:rPr lang="en-US" sz="1150" b="1" dirty="0">
                <a:solidFill>
                  <a:srgbClr val="DCE6F0"/>
                </a:solidFill>
                <a:latin typeface="Calibri" pitchFamily="34" charset="0"/>
                <a:ea typeface="Calibri" pitchFamily="34" charset="-122"/>
                <a:cs typeface="Calibri" pitchFamily="34" charset="-120"/>
              </a:rPr>
              <a:t>Shiprocket  ·  Delhivery  ·  NimbusPost  ·  Shadowfax</a:t>
            </a:r>
            <a:endParaRPr lang="en-US" sz="1150" dirty="0"/>
          </a:p>
        </p:txBody>
      </p:sp>
      <p:sp>
        <p:nvSpPr>
          <p:cNvPr id="19" name="Text 16"/>
          <p:cNvSpPr txBox="1"/>
          <p:nvPr/>
        </p:nvSpPr>
        <p:spPr>
          <a:xfrm>
            <a:off x="6629400" y="2962656"/>
            <a:ext cx="1828800" cy="201168"/>
          </a:xfrm>
          <a:prstGeom prst="rect">
            <a:avLst/>
          </a:prstGeom>
          <a:noFill/>
          <a:ln/>
        </p:spPr>
        <p:txBody>
          <a:bodyPr wrap="square" lIns="0" tIns="0" rIns="0" bIns="0" rtlCol="0" anchor="ctr"/>
          <a:lstStyle/>
          <a:p>
            <a:pPr indent="0" marL="0">
              <a:buNone/>
            </a:pPr>
            <a:r>
              <a:rPr lang="en-US" sz="900" b="1" spc="160" kern="0" dirty="0">
                <a:solidFill>
                  <a:srgbClr val="FF9838"/>
                </a:solidFill>
                <a:latin typeface="Calibri" pitchFamily="34" charset="0"/>
                <a:ea typeface="Calibri" pitchFamily="34" charset="-122"/>
                <a:cs typeface="Calibri" pitchFamily="34" charset="-120"/>
              </a:rPr>
              <a:t>DECIDING ON</a:t>
            </a:r>
            <a:endParaRPr lang="en-US" sz="900" dirty="0"/>
          </a:p>
        </p:txBody>
      </p:sp>
      <p:sp>
        <p:nvSpPr>
          <p:cNvPr id="20" name="Text 17"/>
          <p:cNvSpPr txBox="1"/>
          <p:nvPr/>
        </p:nvSpPr>
        <p:spPr>
          <a:xfrm>
            <a:off x="6629400" y="3145536"/>
            <a:ext cx="4709160" cy="512064"/>
          </a:xfrm>
          <a:prstGeom prst="rect">
            <a:avLst/>
          </a:prstGeom>
          <a:noFill/>
          <a:ln/>
        </p:spPr>
        <p:txBody>
          <a:bodyPr wrap="square" lIns="0" tIns="0" rIns="0" bIns="0" rtlCol="0" anchor="ctr"/>
          <a:lstStyle/>
          <a:p>
            <a:pPr indent="0" marL="0">
              <a:lnSpc>
                <a:spcPts val="1400"/>
              </a:lnSpc>
              <a:buNone/>
            </a:pPr>
            <a:r>
              <a:rPr lang="en-US" sz="1050" dirty="0">
                <a:solidFill>
                  <a:srgbClr val="9BABBC"/>
                </a:solidFill>
                <a:latin typeface="Calibri" pitchFamily="34" charset="0"/>
                <a:ea typeface="Calibri" pitchFamily="34" charset="-122"/>
                <a:cs typeface="Calibri" pitchFamily="34" charset="-120"/>
              </a:rPr>
              <a:t>Pincode coverage in our catchment, COD remittance cycle, how returns and refused parcels are charged, and cost per shipment at our volume.</a:t>
            </a:r>
            <a:endParaRPr lang="en-US" sz="1050" dirty="0"/>
          </a:p>
        </p:txBody>
      </p:sp>
      <p:sp>
        <p:nvSpPr>
          <p:cNvPr id="21" name="Shape 18"/>
          <p:cNvSpPr/>
          <p:nvPr/>
        </p:nvSpPr>
        <p:spPr>
          <a:xfrm>
            <a:off x="548640" y="3895344"/>
            <a:ext cx="5257800" cy="1938528"/>
          </a:xfrm>
          <a:prstGeom prst="roundRect">
            <a:avLst>
              <a:gd name="adj" fmla="val 2830"/>
            </a:avLst>
          </a:prstGeom>
          <a:solidFill>
            <a:srgbClr val="13263D"/>
          </a:solidFill>
          <a:ln w="12700">
            <a:solidFill>
              <a:srgbClr val="22384F"/>
            </a:solidFill>
            <a:prstDash val="solid"/>
          </a:ln>
        </p:spPr>
      </p:sp>
      <p:sp>
        <p:nvSpPr>
          <p:cNvPr id="22" name="Shape 19"/>
          <p:cNvSpPr/>
          <p:nvPr/>
        </p:nvSpPr>
        <p:spPr>
          <a:xfrm>
            <a:off x="822960" y="4133088"/>
            <a:ext cx="384048" cy="384048"/>
          </a:xfrm>
          <a:prstGeom prst="ellipse">
            <a:avLst/>
          </a:prstGeom>
          <a:solidFill>
            <a:srgbClr val="FC7800"/>
          </a:solidFill>
          <a:ln w="12700">
            <a:solidFill>
              <a:srgbClr val="FC7800"/>
            </a:solidFill>
            <a:prstDash val="solid"/>
          </a:ln>
        </p:spPr>
      </p:sp>
      <p:sp>
        <p:nvSpPr>
          <p:cNvPr id="23" name="Text 20"/>
          <p:cNvSpPr txBox="1"/>
          <p:nvPr/>
        </p:nvSpPr>
        <p:spPr>
          <a:xfrm>
            <a:off x="822960" y="4133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4" name="Text 21"/>
          <p:cNvSpPr txBox="1"/>
          <p:nvPr/>
        </p:nvSpPr>
        <p:spPr>
          <a:xfrm>
            <a:off x="1353312" y="4133088"/>
            <a:ext cx="4206240"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WhatsApp commerce platform</a:t>
            </a:r>
            <a:endParaRPr lang="en-US" sz="1550" dirty="0"/>
          </a:p>
        </p:txBody>
      </p:sp>
      <p:sp>
        <p:nvSpPr>
          <p:cNvPr id="25" name="Text 22"/>
          <p:cNvSpPr txBox="1"/>
          <p:nvPr/>
        </p:nvSpPr>
        <p:spPr>
          <a:xfrm>
            <a:off x="822960" y="4626864"/>
            <a:ext cx="1828800" cy="201168"/>
          </a:xfrm>
          <a:prstGeom prst="rect">
            <a:avLst/>
          </a:prstGeom>
          <a:noFill/>
          <a:ln/>
        </p:spPr>
        <p:txBody>
          <a:bodyPr wrap="square" lIns="0" tIns="0" rIns="0" bIns="0" rtlCol="0" anchor="ctr"/>
          <a:lstStyle/>
          <a:p>
            <a:pPr indent="0" marL="0">
              <a:buNone/>
            </a:pPr>
            <a:r>
              <a:rPr lang="en-US" sz="900" b="1" spc="160" kern="0" dirty="0">
                <a:solidFill>
                  <a:srgbClr val="FF9838"/>
                </a:solidFill>
                <a:latin typeface="Calibri" pitchFamily="34" charset="0"/>
                <a:ea typeface="Calibri" pitchFamily="34" charset="-122"/>
                <a:cs typeface="Calibri" pitchFamily="34" charset="-120"/>
              </a:rPr>
              <a:t>COMPARING</a:t>
            </a:r>
            <a:endParaRPr lang="en-US" sz="900" dirty="0"/>
          </a:p>
        </p:txBody>
      </p:sp>
      <p:sp>
        <p:nvSpPr>
          <p:cNvPr id="26" name="Text 23"/>
          <p:cNvSpPr txBox="1"/>
          <p:nvPr/>
        </p:nvSpPr>
        <p:spPr>
          <a:xfrm>
            <a:off x="822960" y="4809744"/>
            <a:ext cx="4709160" cy="237744"/>
          </a:xfrm>
          <a:prstGeom prst="rect">
            <a:avLst/>
          </a:prstGeom>
          <a:noFill/>
          <a:ln/>
        </p:spPr>
        <p:txBody>
          <a:bodyPr wrap="square" lIns="0" tIns="0" rIns="0" bIns="0" rtlCol="0" anchor="ctr"/>
          <a:lstStyle/>
          <a:p>
            <a:pPr indent="0" marL="0">
              <a:buNone/>
            </a:pPr>
            <a:r>
              <a:rPr lang="en-US" sz="1150" b="1" dirty="0">
                <a:solidFill>
                  <a:srgbClr val="DCE6F0"/>
                </a:solidFill>
                <a:latin typeface="Calibri" pitchFamily="34" charset="0"/>
                <a:ea typeface="Calibri" pitchFamily="34" charset="-122"/>
                <a:cs typeface="Calibri" pitchFamily="34" charset="-120"/>
              </a:rPr>
              <a:t>AiSensy (current)  ·  Interakt  ·  Wati  ·  Cloud API direct</a:t>
            </a:r>
            <a:endParaRPr lang="en-US" sz="1150" dirty="0"/>
          </a:p>
        </p:txBody>
      </p:sp>
      <p:sp>
        <p:nvSpPr>
          <p:cNvPr id="27" name="Text 24"/>
          <p:cNvSpPr txBox="1"/>
          <p:nvPr/>
        </p:nvSpPr>
        <p:spPr>
          <a:xfrm>
            <a:off x="822960" y="5084064"/>
            <a:ext cx="1828800" cy="201168"/>
          </a:xfrm>
          <a:prstGeom prst="rect">
            <a:avLst/>
          </a:prstGeom>
          <a:noFill/>
          <a:ln/>
        </p:spPr>
        <p:txBody>
          <a:bodyPr wrap="square" lIns="0" tIns="0" rIns="0" bIns="0" rtlCol="0" anchor="ctr"/>
          <a:lstStyle/>
          <a:p>
            <a:pPr indent="0" marL="0">
              <a:buNone/>
            </a:pPr>
            <a:r>
              <a:rPr lang="en-US" sz="900" b="1" spc="160" kern="0" dirty="0">
                <a:solidFill>
                  <a:srgbClr val="FF9838"/>
                </a:solidFill>
                <a:latin typeface="Calibri" pitchFamily="34" charset="0"/>
                <a:ea typeface="Calibri" pitchFamily="34" charset="-122"/>
                <a:cs typeface="Calibri" pitchFamily="34" charset="-120"/>
              </a:rPr>
              <a:t>DECIDING ON</a:t>
            </a:r>
            <a:endParaRPr lang="en-US" sz="900" dirty="0"/>
          </a:p>
        </p:txBody>
      </p:sp>
      <p:sp>
        <p:nvSpPr>
          <p:cNvPr id="28" name="Text 25"/>
          <p:cNvSpPr txBox="1"/>
          <p:nvPr/>
        </p:nvSpPr>
        <p:spPr>
          <a:xfrm>
            <a:off x="822960" y="5266944"/>
            <a:ext cx="4709160" cy="512064"/>
          </a:xfrm>
          <a:prstGeom prst="rect">
            <a:avLst/>
          </a:prstGeom>
          <a:noFill/>
          <a:ln/>
        </p:spPr>
        <p:txBody>
          <a:bodyPr wrap="square" lIns="0" tIns="0" rIns="0" bIns="0" rtlCol="0" anchor="ctr"/>
          <a:lstStyle/>
          <a:p>
            <a:pPr indent="0" marL="0">
              <a:lnSpc>
                <a:spcPts val="1400"/>
              </a:lnSpc>
              <a:buNone/>
            </a:pPr>
            <a:r>
              <a:rPr lang="en-US" sz="1050" dirty="0">
                <a:solidFill>
                  <a:srgbClr val="9BABBC"/>
                </a:solidFill>
                <a:latin typeface="Calibri" pitchFamily="34" charset="0"/>
                <a:ea typeface="Calibri" pitchFamily="34" charset="-122"/>
                <a:cs typeface="Calibri" pitchFamily="34" charset="-120"/>
              </a:rPr>
              <a:t>Whether payment can complete inside the chat, catalogue and template support, and per-conversation pricing as volume grows.</a:t>
            </a:r>
            <a:endParaRPr lang="en-US" sz="1050" dirty="0"/>
          </a:p>
        </p:txBody>
      </p:sp>
      <p:sp>
        <p:nvSpPr>
          <p:cNvPr id="29" name="Shape 26"/>
          <p:cNvSpPr/>
          <p:nvPr/>
        </p:nvSpPr>
        <p:spPr>
          <a:xfrm>
            <a:off x="6355080" y="3895344"/>
            <a:ext cx="5257800" cy="1938528"/>
          </a:xfrm>
          <a:prstGeom prst="roundRect">
            <a:avLst>
              <a:gd name="adj" fmla="val 2830"/>
            </a:avLst>
          </a:prstGeom>
          <a:solidFill>
            <a:srgbClr val="13263D"/>
          </a:solidFill>
          <a:ln w="12700">
            <a:solidFill>
              <a:srgbClr val="22384F"/>
            </a:solidFill>
            <a:prstDash val="solid"/>
          </a:ln>
        </p:spPr>
      </p:sp>
      <p:sp>
        <p:nvSpPr>
          <p:cNvPr id="30" name="Shape 27"/>
          <p:cNvSpPr/>
          <p:nvPr/>
        </p:nvSpPr>
        <p:spPr>
          <a:xfrm>
            <a:off x="6629400" y="4133088"/>
            <a:ext cx="384048" cy="384048"/>
          </a:xfrm>
          <a:prstGeom prst="ellipse">
            <a:avLst/>
          </a:prstGeom>
          <a:solidFill>
            <a:srgbClr val="FC7800"/>
          </a:solidFill>
          <a:ln w="12700">
            <a:solidFill>
              <a:srgbClr val="FC7800"/>
            </a:solidFill>
            <a:prstDash val="solid"/>
          </a:ln>
        </p:spPr>
      </p:sp>
      <p:sp>
        <p:nvSpPr>
          <p:cNvPr id="31" name="Text 28"/>
          <p:cNvSpPr txBox="1"/>
          <p:nvPr/>
        </p:nvSpPr>
        <p:spPr>
          <a:xfrm>
            <a:off x="6629400" y="4133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a:t>
            </a:r>
            <a:endParaRPr lang="en-US" sz="1300" dirty="0"/>
          </a:p>
        </p:txBody>
      </p:sp>
      <p:sp>
        <p:nvSpPr>
          <p:cNvPr id="32" name="Text 29"/>
          <p:cNvSpPr txBox="1"/>
          <p:nvPr/>
        </p:nvSpPr>
        <p:spPr>
          <a:xfrm>
            <a:off x="7159752" y="4133088"/>
            <a:ext cx="4206240"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Payment capture model</a:t>
            </a:r>
            <a:endParaRPr lang="en-US" sz="1550" dirty="0"/>
          </a:p>
        </p:txBody>
      </p:sp>
      <p:sp>
        <p:nvSpPr>
          <p:cNvPr id="33" name="Text 30"/>
          <p:cNvSpPr txBox="1"/>
          <p:nvPr/>
        </p:nvSpPr>
        <p:spPr>
          <a:xfrm>
            <a:off x="6629400" y="4626864"/>
            <a:ext cx="1828800" cy="201168"/>
          </a:xfrm>
          <a:prstGeom prst="rect">
            <a:avLst/>
          </a:prstGeom>
          <a:noFill/>
          <a:ln/>
        </p:spPr>
        <p:txBody>
          <a:bodyPr wrap="square" lIns="0" tIns="0" rIns="0" bIns="0" rtlCol="0" anchor="ctr"/>
          <a:lstStyle/>
          <a:p>
            <a:pPr indent="0" marL="0">
              <a:buNone/>
            </a:pPr>
            <a:r>
              <a:rPr lang="en-US" sz="900" b="1" spc="160" kern="0" dirty="0">
                <a:solidFill>
                  <a:srgbClr val="FF9838"/>
                </a:solidFill>
                <a:latin typeface="Calibri" pitchFamily="34" charset="0"/>
                <a:ea typeface="Calibri" pitchFamily="34" charset="-122"/>
                <a:cs typeface="Calibri" pitchFamily="34" charset="-120"/>
              </a:rPr>
              <a:t>COMPARING</a:t>
            </a:r>
            <a:endParaRPr lang="en-US" sz="900" dirty="0"/>
          </a:p>
        </p:txBody>
      </p:sp>
      <p:sp>
        <p:nvSpPr>
          <p:cNvPr id="34" name="Text 31"/>
          <p:cNvSpPr txBox="1"/>
          <p:nvPr/>
        </p:nvSpPr>
        <p:spPr>
          <a:xfrm>
            <a:off x="6629400" y="4809744"/>
            <a:ext cx="4709160" cy="237744"/>
          </a:xfrm>
          <a:prstGeom prst="rect">
            <a:avLst/>
          </a:prstGeom>
          <a:noFill/>
          <a:ln/>
        </p:spPr>
        <p:txBody>
          <a:bodyPr wrap="square" lIns="0" tIns="0" rIns="0" bIns="0" rtlCol="0" anchor="ctr"/>
          <a:lstStyle/>
          <a:p>
            <a:pPr indent="0" marL="0">
              <a:buNone/>
            </a:pPr>
            <a:r>
              <a:rPr lang="en-US" sz="1150" b="1" dirty="0">
                <a:solidFill>
                  <a:srgbClr val="DCE6F0"/>
                </a:solidFill>
                <a:latin typeface="Calibri" pitchFamily="34" charset="0"/>
                <a:ea typeface="Calibri" pitchFamily="34" charset="-122"/>
                <a:cs typeface="Calibri" pitchFamily="34" charset="-120"/>
              </a:rPr>
              <a:t>Pay at checkout  ·  Authorise then capture  ·  Approve then pay</a:t>
            </a:r>
            <a:endParaRPr lang="en-US" sz="1150" dirty="0"/>
          </a:p>
        </p:txBody>
      </p:sp>
      <p:sp>
        <p:nvSpPr>
          <p:cNvPr id="35" name="Text 32"/>
          <p:cNvSpPr txBox="1"/>
          <p:nvPr/>
        </p:nvSpPr>
        <p:spPr>
          <a:xfrm>
            <a:off x="6629400" y="5084064"/>
            <a:ext cx="1828800" cy="201168"/>
          </a:xfrm>
          <a:prstGeom prst="rect">
            <a:avLst/>
          </a:prstGeom>
          <a:noFill/>
          <a:ln/>
        </p:spPr>
        <p:txBody>
          <a:bodyPr wrap="square" lIns="0" tIns="0" rIns="0" bIns="0" rtlCol="0" anchor="ctr"/>
          <a:lstStyle/>
          <a:p>
            <a:pPr indent="0" marL="0">
              <a:buNone/>
            </a:pPr>
            <a:r>
              <a:rPr lang="en-US" sz="900" b="1" spc="160" kern="0" dirty="0">
                <a:solidFill>
                  <a:srgbClr val="FF9838"/>
                </a:solidFill>
                <a:latin typeface="Calibri" pitchFamily="34" charset="0"/>
                <a:ea typeface="Calibri" pitchFamily="34" charset="-122"/>
                <a:cs typeface="Calibri" pitchFamily="34" charset="-120"/>
              </a:rPr>
              <a:t>DECIDING ON</a:t>
            </a:r>
            <a:endParaRPr lang="en-US" sz="900" dirty="0"/>
          </a:p>
        </p:txBody>
      </p:sp>
      <p:sp>
        <p:nvSpPr>
          <p:cNvPr id="36" name="Text 33"/>
          <p:cNvSpPr txBox="1"/>
          <p:nvPr/>
        </p:nvSpPr>
        <p:spPr>
          <a:xfrm>
            <a:off x="6629400" y="5266944"/>
            <a:ext cx="4709160" cy="512064"/>
          </a:xfrm>
          <a:prstGeom prst="rect">
            <a:avLst/>
          </a:prstGeom>
          <a:noFill/>
          <a:ln/>
        </p:spPr>
        <p:txBody>
          <a:bodyPr wrap="square" lIns="0" tIns="0" rIns="0" bIns="0" rtlCol="0" anchor="ctr"/>
          <a:lstStyle/>
          <a:p>
            <a:pPr indent="0" marL="0">
              <a:lnSpc>
                <a:spcPts val="1400"/>
              </a:lnSpc>
              <a:buNone/>
            </a:pPr>
            <a:r>
              <a:rPr lang="en-US" sz="1050" dirty="0">
                <a:solidFill>
                  <a:srgbClr val="9BABBC"/>
                </a:solidFill>
                <a:latin typeface="Calibri" pitchFamily="34" charset="0"/>
                <a:ea typeface="Calibri" pitchFamily="34" charset="-122"/>
                <a:cs typeface="Calibri" pitchFamily="34" charset="-120"/>
              </a:rPr>
              <a:t>Refund exposure on rejected prescription items, drop-off at a second payment step, and which methods actually support holds in India.</a:t>
            </a:r>
            <a:endParaRPr lang="en-US" sz="1050" dirty="0"/>
          </a:p>
        </p:txBody>
      </p:sp>
      <p:sp>
        <p:nvSpPr>
          <p:cNvPr id="37" name="Text 34"/>
          <p:cNvSpPr txBox="1"/>
          <p:nvPr/>
        </p:nvSpPr>
        <p:spPr>
          <a:xfrm>
            <a:off x="548640" y="6089904"/>
            <a:ext cx="10789920" cy="274320"/>
          </a:xfrm>
          <a:prstGeom prst="rect">
            <a:avLst/>
          </a:prstGeom>
          <a:noFill/>
          <a:ln/>
        </p:spPr>
        <p:txBody>
          <a:bodyPr wrap="square" lIns="0" tIns="0" rIns="0" bIns="0" rtlCol="0" anchor="ctr"/>
          <a:lstStyle/>
          <a:p>
            <a:pPr indent="0" marL="0">
              <a:buNone/>
            </a:pPr>
            <a:r>
              <a:rPr lang="en-US" sz="1100" dirty="0">
                <a:solidFill>
                  <a:srgbClr val="6D7F91"/>
                </a:solidFill>
                <a:latin typeface="Calibri" pitchFamily="34" charset="0"/>
                <a:ea typeface="Calibri" pitchFamily="34" charset="-122"/>
                <a:cs typeface="Calibri" pitchFamily="34" charset="-120"/>
              </a:rPr>
              <a:t>Running separately: prescription retention rules and restricted schedules, being confirmed with counsel before the prescription flow goes live.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Rebuild and Roadmap</dc:title>
  <dc:subject>PptxGenJS Presentation</dc:subject>
  <dc:creator>TnC Pharmacy Engineering</dc:creator>
  <cp:lastModifiedBy>TnC Pharmacy Engineering</cp:lastModifiedBy>
  <cp:revision>1</cp:revision>
  <dcterms:created xsi:type="dcterms:W3CDTF">2026-09-04T14:14:11Z</dcterms:created>
  <dcterms:modified xsi:type="dcterms:W3CDTF">2026-09-04T14:14:11Z</dcterms:modified>
</cp:coreProperties>
</file>