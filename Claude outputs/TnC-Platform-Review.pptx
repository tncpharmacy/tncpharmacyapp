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platform is on a stable footing. Environments are separated, deployment is controlled, and the security problem on the old production server is resolved. The rest of the deck covers what shipped, what is in flight,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contrast at the bottom. Before this work there was a single server doing everything, deployments were manual, and there was no safe way to test a change. That is what allowed the security incident to go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phase currently underway. Point out that WhatsApp is not a new vendor decision — the integration already exists and is live for order events; we are extending it across the order lifecycle. The support module is the one that reduces operational load most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is unglamorous but non-negotiable: order amounts are currently stored as text, which cannot be reconciled against a payment gateway. It ships alone. Stages 2 to 4 build the money and delivery paths independently. Stage 5 is where prescription approval meets payment — deliberately last, so a problem there is a problem in the join, not in the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 upload is the higher-certainty item and unblocks the commercial team immediately — it is not dependent on anything in Phase 1. WhatsApp buying is the larger opportunity but strictly downstream of payments; be clear about that dependency so it does not get promised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 gateway onboarding is the only item where delay directly pushes the launch date, because it is waiting time rather than work. B needs a name attached today. C and D can be settled in this meeting if there is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548640" y="530352"/>
            <a:ext cx="2148840" cy="724980"/>
          </a:xfrm>
          <a:prstGeom prst="rect">
            <a:avLst/>
          </a:prstGeom>
        </p:spPr>
      </p:pic>
      <p:sp>
        <p:nvSpPr>
          <p:cNvPr id="3" name="Text 0"/>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200" b="1" spc="300" kern="0" dirty="0">
                <a:solidFill>
                  <a:srgbClr val="FF9838"/>
                </a:solidFill>
                <a:latin typeface="Calibri" pitchFamily="34" charset="0"/>
                <a:ea typeface="Calibri" pitchFamily="34" charset="-122"/>
                <a:cs typeface="Calibri" pitchFamily="34" charset="-120"/>
              </a:rPr>
              <a:t>ENGINEERING REVIEW</a:t>
            </a:r>
            <a:endParaRPr lang="en-US" sz="1200" dirty="0"/>
          </a:p>
        </p:txBody>
      </p:sp>
      <p:sp>
        <p:nvSpPr>
          <p:cNvPr id="4" name="Text 1"/>
          <p:cNvSpPr txBox="1"/>
          <p:nvPr/>
        </p:nvSpPr>
        <p:spPr>
          <a:xfrm>
            <a:off x="548640" y="1920240"/>
            <a:ext cx="969264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Platform rebuild complete</a:t>
            </a:r>
            <a:endParaRPr lang="en-US" sz="4000" dirty="0"/>
          </a:p>
        </p:txBody>
      </p:sp>
      <p:sp>
        <p:nvSpPr>
          <p:cNvPr id="5" name="Text 2"/>
          <p:cNvSpPr txBox="1"/>
          <p:nvPr/>
        </p:nvSpPr>
        <p:spPr>
          <a:xfrm>
            <a:off x="548640" y="2761488"/>
            <a:ext cx="8595360" cy="777240"/>
          </a:xfrm>
          <a:prstGeom prst="rect">
            <a:avLst/>
          </a:prstGeom>
          <a:noFill/>
          <a:ln/>
        </p:spPr>
        <p:txBody>
          <a:bodyPr wrap="square" lIns="0" tIns="0" rIns="0" bIns="0" rtlCol="0" anchor="ctr"/>
          <a:lstStyle/>
          <a:p>
            <a:pPr indent="0" marL="0">
              <a:lnSpc>
                <a:spcPts val="2100"/>
              </a:lnSpc>
              <a:buNone/>
            </a:pPr>
            <a:r>
              <a:rPr lang="en-US" sz="1450" dirty="0">
                <a:solidFill>
                  <a:srgbClr val="9BABBC"/>
                </a:solidFill>
                <a:latin typeface="Calibri" pitchFamily="34" charset="0"/>
                <a:ea typeface="Calibri" pitchFamily="34" charset="-122"/>
                <a:cs typeface="Calibri" pitchFamily="34" charset="-120"/>
              </a:rPr>
              <a:t>Development and production are now fully separated, every release goes through an approved pipeline, and the compromised production host has been rebuilt clean.</a:t>
            </a:r>
            <a:endParaRPr lang="en-US" sz="1450" dirty="0"/>
          </a:p>
        </p:txBody>
      </p:sp>
      <p:sp>
        <p:nvSpPr>
          <p:cNvPr id="6" name="Text 3"/>
          <p:cNvSpPr txBox="1"/>
          <p:nvPr/>
        </p:nvSpPr>
        <p:spPr>
          <a:xfrm>
            <a:off x="54864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2</a:t>
            </a:r>
            <a:endParaRPr lang="en-US" sz="5000" dirty="0"/>
          </a:p>
        </p:txBody>
      </p:sp>
      <p:sp>
        <p:nvSpPr>
          <p:cNvPr id="7" name="Text 4"/>
          <p:cNvSpPr txBox="1"/>
          <p:nvPr/>
        </p:nvSpPr>
        <p:spPr>
          <a:xfrm>
            <a:off x="54864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Isolated environments</a:t>
            </a:r>
            <a:endParaRPr lang="en-US" sz="1450" dirty="0"/>
          </a:p>
        </p:txBody>
      </p:sp>
      <p:sp>
        <p:nvSpPr>
          <p:cNvPr id="8" name="Text 5"/>
          <p:cNvSpPr txBox="1"/>
          <p:nvPr/>
        </p:nvSpPr>
        <p:spPr>
          <a:xfrm>
            <a:off x="54864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Dev and production on independent servers, databases and storage</a:t>
            </a:r>
            <a:endParaRPr lang="en-US" sz="1150" dirty="0"/>
          </a:p>
        </p:txBody>
      </p:sp>
      <p:sp>
        <p:nvSpPr>
          <p:cNvPr id="9" name="Text 6"/>
          <p:cNvSpPr txBox="1"/>
          <p:nvPr/>
        </p:nvSpPr>
        <p:spPr>
          <a:xfrm>
            <a:off x="429768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524K</a:t>
            </a:r>
            <a:endParaRPr lang="en-US" sz="5000" dirty="0"/>
          </a:p>
        </p:txBody>
      </p:sp>
      <p:sp>
        <p:nvSpPr>
          <p:cNvPr id="10" name="Text 7"/>
          <p:cNvSpPr txBox="1"/>
          <p:nvPr/>
        </p:nvSpPr>
        <p:spPr>
          <a:xfrm>
            <a:off x="429768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Catalogue records</a:t>
            </a:r>
            <a:endParaRPr lang="en-US" sz="1450" dirty="0"/>
          </a:p>
        </p:txBody>
      </p:sp>
      <p:sp>
        <p:nvSpPr>
          <p:cNvPr id="11" name="Text 8"/>
          <p:cNvSpPr txBox="1"/>
          <p:nvPr/>
        </p:nvSpPr>
        <p:spPr>
          <a:xfrm>
            <a:off x="429768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Migrated to the new production database with zero loss</a:t>
            </a:r>
            <a:endParaRPr lang="en-US" sz="1150" dirty="0"/>
          </a:p>
        </p:txBody>
      </p:sp>
      <p:sp>
        <p:nvSpPr>
          <p:cNvPr id="12" name="Text 9"/>
          <p:cNvSpPr txBox="1"/>
          <p:nvPr/>
        </p:nvSpPr>
        <p:spPr>
          <a:xfrm>
            <a:off x="804672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1</a:t>
            </a:r>
            <a:endParaRPr lang="en-US" sz="5000" dirty="0"/>
          </a:p>
        </p:txBody>
      </p:sp>
      <p:sp>
        <p:nvSpPr>
          <p:cNvPr id="13" name="Text 10"/>
          <p:cNvSpPr txBox="1"/>
          <p:nvPr/>
        </p:nvSpPr>
        <p:spPr>
          <a:xfrm>
            <a:off x="804672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Security incident</a:t>
            </a:r>
            <a:endParaRPr lang="en-US" sz="1450" dirty="0"/>
          </a:p>
        </p:txBody>
      </p:sp>
      <p:sp>
        <p:nvSpPr>
          <p:cNvPr id="14" name="Text 11"/>
          <p:cNvSpPr txBox="1"/>
          <p:nvPr/>
        </p:nvSpPr>
        <p:spPr>
          <a:xfrm>
            <a:off x="804672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Cryptominer found on the old host — contained, rebuilt, hardened</a:t>
            </a:r>
            <a:endParaRPr lang="en-US" sz="1150" dirty="0"/>
          </a:p>
        </p:txBody>
      </p:sp>
      <p:sp>
        <p:nvSpPr>
          <p:cNvPr id="15" name="Text 12"/>
          <p:cNvSpPr txBox="1"/>
          <p:nvPr/>
        </p:nvSpPr>
        <p:spPr>
          <a:xfrm>
            <a:off x="548640" y="6108192"/>
            <a:ext cx="7315200" cy="274320"/>
          </a:xfrm>
          <a:prstGeom prst="rect">
            <a:avLst/>
          </a:prstGeom>
          <a:noFill/>
          <a:ln/>
        </p:spPr>
        <p:txBody>
          <a:bodyPr wrap="square" lIns="0" tIns="0" rIns="0" bIns="0" rtlCol="0" anchor="ctr"/>
          <a:lstStyle/>
          <a:p>
            <a:pPr indent="0" marL="0">
              <a:buNone/>
            </a:pPr>
            <a:r>
              <a:rPr lang="en-US" sz="1100" dirty="0">
                <a:solidFill>
                  <a:srgbClr val="6D7F91"/>
                </a:solidFill>
                <a:latin typeface="Calibri" pitchFamily="34" charset="0"/>
                <a:ea typeface="Calibri" pitchFamily="34" charset="-122"/>
                <a:cs typeface="Calibri" pitchFamily="34" charset="-120"/>
              </a:rPr>
              <a:t>TnC Pharmacy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822960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What we delivered</a:t>
            </a:r>
            <a:endParaRPr lang="en-US" sz="3300" dirty="0"/>
          </a:p>
        </p:txBody>
      </p:sp>
      <p:sp>
        <p:nvSpPr>
          <p:cNvPr id="4" name="Text 1"/>
          <p:cNvSpPr txBox="1"/>
          <p:nvPr/>
        </p:nvSpPr>
        <p:spPr>
          <a:xfrm>
            <a:off x="548640" y="1152144"/>
            <a:ext cx="82296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Four workstreams, all now in production.</a:t>
            </a:r>
            <a:endParaRPr lang="en-US" sz="1350" dirty="0"/>
          </a:p>
        </p:txBody>
      </p:sp>
      <p:sp>
        <p:nvSpPr>
          <p:cNvPr id="5" name="Shape 2"/>
          <p:cNvSpPr/>
          <p:nvPr/>
        </p:nvSpPr>
        <p:spPr>
          <a:xfrm>
            <a:off x="548640" y="1755648"/>
            <a:ext cx="5257800" cy="1810512"/>
          </a:xfrm>
          <a:prstGeom prst="roundRect">
            <a:avLst>
              <a:gd name="adj" fmla="val 3030"/>
            </a:avLst>
          </a:prstGeom>
          <a:solidFill>
            <a:srgbClr val="F5F8FC"/>
          </a:solidFill>
          <a:ln w="12700">
            <a:solidFill>
              <a:srgbClr val="D9E2EC"/>
            </a:solidFill>
            <a:prstDash val="solid"/>
          </a:ln>
        </p:spPr>
      </p:sp>
      <p:sp>
        <p:nvSpPr>
          <p:cNvPr id="6" name="Shape 3"/>
          <p:cNvSpPr/>
          <p:nvPr/>
        </p:nvSpPr>
        <p:spPr>
          <a:xfrm>
            <a:off x="841248" y="2029968"/>
            <a:ext cx="402336" cy="402336"/>
          </a:xfrm>
          <a:prstGeom prst="ellipse">
            <a:avLst/>
          </a:prstGeom>
          <a:solidFill>
            <a:srgbClr val="0054B4"/>
          </a:solidFill>
          <a:ln w="12700">
            <a:solidFill>
              <a:srgbClr val="0054B4"/>
            </a:solidFill>
            <a:prstDash val="solid"/>
          </a:ln>
        </p:spPr>
      </p:sp>
      <p:sp>
        <p:nvSpPr>
          <p:cNvPr id="7" name="Text 4"/>
          <p:cNvSpPr txBox="1"/>
          <p:nvPr/>
        </p:nvSpPr>
        <p:spPr>
          <a:xfrm>
            <a:off x="841248" y="2029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389888" y="2029968"/>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Separated environments</a:t>
            </a:r>
            <a:endParaRPr lang="en-US" sz="1550" dirty="0"/>
          </a:p>
        </p:txBody>
      </p:sp>
      <p:sp>
        <p:nvSpPr>
          <p:cNvPr id="9" name="Text 6"/>
          <p:cNvSpPr txBox="1"/>
          <p:nvPr/>
        </p:nvSpPr>
        <p:spPr>
          <a:xfrm>
            <a:off x="841248" y="2542032"/>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Development and production run on independent servers with their own databases, storage and credentials. Changes are proven on dev before any customer sees them.</a:t>
            </a:r>
            <a:endParaRPr lang="en-US" sz="1150" dirty="0"/>
          </a:p>
        </p:txBody>
      </p:sp>
      <p:sp>
        <p:nvSpPr>
          <p:cNvPr id="10" name="Shape 7"/>
          <p:cNvSpPr/>
          <p:nvPr/>
        </p:nvSpPr>
        <p:spPr>
          <a:xfrm>
            <a:off x="6355080" y="1755648"/>
            <a:ext cx="5257800" cy="1810512"/>
          </a:xfrm>
          <a:prstGeom prst="roundRect">
            <a:avLst>
              <a:gd name="adj" fmla="val 3030"/>
            </a:avLst>
          </a:prstGeom>
          <a:solidFill>
            <a:srgbClr val="F5F8FC"/>
          </a:solidFill>
          <a:ln w="12700">
            <a:solidFill>
              <a:srgbClr val="D9E2EC"/>
            </a:solidFill>
            <a:prstDash val="solid"/>
          </a:ln>
        </p:spPr>
      </p:sp>
      <p:sp>
        <p:nvSpPr>
          <p:cNvPr id="11" name="Shape 8"/>
          <p:cNvSpPr/>
          <p:nvPr/>
        </p:nvSpPr>
        <p:spPr>
          <a:xfrm>
            <a:off x="6647688" y="2029968"/>
            <a:ext cx="402336" cy="402336"/>
          </a:xfrm>
          <a:prstGeom prst="ellipse">
            <a:avLst/>
          </a:prstGeom>
          <a:solidFill>
            <a:srgbClr val="0054B4"/>
          </a:solidFill>
          <a:ln w="12700">
            <a:solidFill>
              <a:srgbClr val="0054B4"/>
            </a:solidFill>
            <a:prstDash val="solid"/>
          </a:ln>
        </p:spPr>
      </p:sp>
      <p:sp>
        <p:nvSpPr>
          <p:cNvPr id="12" name="Text 9"/>
          <p:cNvSpPr txBox="1"/>
          <p:nvPr/>
        </p:nvSpPr>
        <p:spPr>
          <a:xfrm>
            <a:off x="6647688" y="2029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7196328" y="2029968"/>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Controlled releases</a:t>
            </a:r>
            <a:endParaRPr lang="en-US" sz="1550" dirty="0"/>
          </a:p>
        </p:txBody>
      </p:sp>
      <p:sp>
        <p:nvSpPr>
          <p:cNvPr id="14" name="Text 11"/>
          <p:cNvSpPr txBox="1"/>
          <p:nvPr/>
        </p:nvSpPr>
        <p:spPr>
          <a:xfrm>
            <a:off x="6647688" y="2542032"/>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Every change is automatically type-checked and tested. Production deployments require named approval — nothing reaches customers unreviewed.</a:t>
            </a:r>
            <a:endParaRPr lang="en-US" sz="1150" dirty="0"/>
          </a:p>
        </p:txBody>
      </p:sp>
      <p:sp>
        <p:nvSpPr>
          <p:cNvPr id="15" name="Shape 12"/>
          <p:cNvSpPr/>
          <p:nvPr/>
        </p:nvSpPr>
        <p:spPr>
          <a:xfrm>
            <a:off x="548640" y="3822192"/>
            <a:ext cx="5257800" cy="1810512"/>
          </a:xfrm>
          <a:prstGeom prst="roundRect">
            <a:avLst>
              <a:gd name="adj" fmla="val 3030"/>
            </a:avLst>
          </a:prstGeom>
          <a:solidFill>
            <a:srgbClr val="F5F8FC"/>
          </a:solidFill>
          <a:ln w="12700">
            <a:solidFill>
              <a:srgbClr val="D9E2EC"/>
            </a:solidFill>
            <a:prstDash val="solid"/>
          </a:ln>
        </p:spPr>
      </p:sp>
      <p:sp>
        <p:nvSpPr>
          <p:cNvPr id="16" name="Shape 13"/>
          <p:cNvSpPr/>
          <p:nvPr/>
        </p:nvSpPr>
        <p:spPr>
          <a:xfrm>
            <a:off x="841248" y="4096512"/>
            <a:ext cx="402336" cy="402336"/>
          </a:xfrm>
          <a:prstGeom prst="ellipse">
            <a:avLst/>
          </a:prstGeom>
          <a:solidFill>
            <a:srgbClr val="0054B4"/>
          </a:solidFill>
          <a:ln w="12700">
            <a:solidFill>
              <a:srgbClr val="0054B4"/>
            </a:solidFill>
            <a:prstDash val="solid"/>
          </a:ln>
        </p:spPr>
      </p:sp>
      <p:sp>
        <p:nvSpPr>
          <p:cNvPr id="17" name="Text 14"/>
          <p:cNvSpPr txBox="1"/>
          <p:nvPr/>
        </p:nvSpPr>
        <p:spPr>
          <a:xfrm>
            <a:off x="841248" y="4096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389888" y="4096512"/>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Security remediation</a:t>
            </a:r>
            <a:endParaRPr lang="en-US" sz="1550" dirty="0"/>
          </a:p>
        </p:txBody>
      </p:sp>
      <p:sp>
        <p:nvSpPr>
          <p:cNvPr id="19" name="Text 16"/>
          <p:cNvSpPr txBox="1"/>
          <p:nvPr/>
        </p:nvSpPr>
        <p:spPr>
          <a:xfrm>
            <a:off x="841248" y="4608576"/>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The previous production server was running a cryptominer with administrator access. It was destroyed, rebuilt hardened, and access locked to our CDN only.</a:t>
            </a:r>
            <a:endParaRPr lang="en-US" sz="1150" dirty="0"/>
          </a:p>
        </p:txBody>
      </p:sp>
      <p:sp>
        <p:nvSpPr>
          <p:cNvPr id="20" name="Shape 17"/>
          <p:cNvSpPr/>
          <p:nvPr/>
        </p:nvSpPr>
        <p:spPr>
          <a:xfrm>
            <a:off x="6355080" y="3822192"/>
            <a:ext cx="5257800" cy="1810512"/>
          </a:xfrm>
          <a:prstGeom prst="roundRect">
            <a:avLst>
              <a:gd name="adj" fmla="val 3030"/>
            </a:avLst>
          </a:prstGeom>
          <a:solidFill>
            <a:srgbClr val="F5F8FC"/>
          </a:solidFill>
          <a:ln w="12700">
            <a:solidFill>
              <a:srgbClr val="D9E2EC"/>
            </a:solidFill>
            <a:prstDash val="solid"/>
          </a:ln>
        </p:spPr>
      </p:sp>
      <p:sp>
        <p:nvSpPr>
          <p:cNvPr id="21" name="Shape 18"/>
          <p:cNvSpPr/>
          <p:nvPr/>
        </p:nvSpPr>
        <p:spPr>
          <a:xfrm>
            <a:off x="6647688" y="4096512"/>
            <a:ext cx="402336" cy="402336"/>
          </a:xfrm>
          <a:prstGeom prst="ellipse">
            <a:avLst/>
          </a:prstGeom>
          <a:solidFill>
            <a:srgbClr val="0054B4"/>
          </a:solidFill>
          <a:ln w="12700">
            <a:solidFill>
              <a:srgbClr val="0054B4"/>
            </a:solidFill>
            <a:prstDash val="solid"/>
          </a:ln>
        </p:spPr>
      </p:sp>
      <p:sp>
        <p:nvSpPr>
          <p:cNvPr id="22" name="Text 19"/>
          <p:cNvSpPr txBox="1"/>
          <p:nvPr/>
        </p:nvSpPr>
        <p:spPr>
          <a:xfrm>
            <a:off x="6647688" y="4096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7196328" y="4096512"/>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Engineering handbook</a:t>
            </a:r>
            <a:endParaRPr lang="en-US" sz="1550" dirty="0"/>
          </a:p>
        </p:txBody>
      </p:sp>
      <p:sp>
        <p:nvSpPr>
          <p:cNvPr id="24" name="Text 21"/>
          <p:cNvSpPr txBox="1"/>
          <p:nvPr/>
        </p:nvSpPr>
        <p:spPr>
          <a:xfrm>
            <a:off x="6647688" y="4608576"/>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The platform, its environments and its failure modes are documented, so a new developer becomes productive without depending on tribal knowledge.</a:t>
            </a:r>
            <a:endParaRPr lang="en-US" sz="1150" dirty="0"/>
          </a:p>
        </p:txBody>
      </p:sp>
      <p:sp>
        <p:nvSpPr>
          <p:cNvPr id="25" name="Text 2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Previously: one shared server, manual deployment, no rollback path, credentials held in the code repository.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731520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Current phase</a:t>
            </a:r>
            <a:endParaRPr lang="en-US" sz="3300" dirty="0"/>
          </a:p>
        </p:txBody>
      </p:sp>
      <p:sp>
        <p:nvSpPr>
          <p:cNvPr id="4" name="Shape 1"/>
          <p:cNvSpPr/>
          <p:nvPr/>
        </p:nvSpPr>
        <p:spPr>
          <a:xfrm>
            <a:off x="548640" y="1207008"/>
            <a:ext cx="815645" cy="237744"/>
          </a:xfrm>
          <a:prstGeom prst="roundRect">
            <a:avLst>
              <a:gd name="adj" fmla="val 50000"/>
            </a:avLst>
          </a:prstGeom>
          <a:solidFill>
            <a:srgbClr val="FC7800"/>
          </a:solidFill>
          <a:ln w="12700">
            <a:solidFill>
              <a:srgbClr val="FC7800"/>
            </a:solidFill>
            <a:prstDash val="solid"/>
          </a:ln>
        </p:spPr>
      </p:sp>
      <p:sp>
        <p:nvSpPr>
          <p:cNvPr id="5" name="Text 2"/>
          <p:cNvSpPr txBox="1"/>
          <p:nvPr/>
        </p:nvSpPr>
        <p:spPr>
          <a:xfrm>
            <a:off x="548640" y="1207008"/>
            <a:ext cx="815645" cy="23774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IN PROGRESS</a:t>
            </a:r>
            <a:endParaRPr lang="en-US" sz="950" dirty="0"/>
          </a:p>
        </p:txBody>
      </p:sp>
      <p:sp>
        <p:nvSpPr>
          <p:cNvPr id="6" name="Text 3"/>
          <p:cNvSpPr txBox="1"/>
          <p:nvPr/>
        </p:nvSpPr>
        <p:spPr>
          <a:xfrm>
            <a:off x="1783080" y="1188720"/>
            <a:ext cx="877824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Three workstreams that make the platform usable day to day — for customers and for the counter staff.</a:t>
            </a:r>
            <a:endParaRPr lang="en-US" sz="1350" dirty="0"/>
          </a:p>
        </p:txBody>
      </p:sp>
      <p:sp>
        <p:nvSpPr>
          <p:cNvPr id="7" name="Shape 4"/>
          <p:cNvSpPr/>
          <p:nvPr/>
        </p:nvSpPr>
        <p:spPr>
          <a:xfrm>
            <a:off x="548640" y="1783080"/>
            <a:ext cx="3429000" cy="4023360"/>
          </a:xfrm>
          <a:prstGeom prst="roundRect">
            <a:avLst>
              <a:gd name="adj" fmla="val 1600"/>
            </a:avLst>
          </a:prstGeom>
          <a:solidFill>
            <a:srgbClr val="F5F8FC"/>
          </a:solidFill>
          <a:ln w="12700">
            <a:solidFill>
              <a:srgbClr val="D9E2EC"/>
            </a:solidFill>
            <a:prstDash val="solid"/>
          </a:ln>
        </p:spPr>
      </p:sp>
      <p:sp>
        <p:nvSpPr>
          <p:cNvPr id="8" name="Shape 5"/>
          <p:cNvSpPr/>
          <p:nvPr/>
        </p:nvSpPr>
        <p:spPr>
          <a:xfrm>
            <a:off x="822960" y="2011680"/>
            <a:ext cx="402336" cy="402336"/>
          </a:xfrm>
          <a:prstGeom prst="ellipse">
            <a:avLst/>
          </a:prstGeom>
          <a:solidFill>
            <a:srgbClr val="0054B4"/>
          </a:solidFill>
          <a:ln w="12700">
            <a:solidFill>
              <a:srgbClr val="0054B4"/>
            </a:solidFill>
            <a:prstDash val="solid"/>
          </a:ln>
        </p:spPr>
      </p:sp>
      <p:sp>
        <p:nvSpPr>
          <p:cNvPr id="9" name="Text 6"/>
          <p:cNvSpPr txBox="1"/>
          <p:nvPr/>
        </p:nvSpPr>
        <p:spPr>
          <a:xfrm>
            <a:off x="82296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82296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WhatsApp notifications</a:t>
            </a:r>
            <a:endParaRPr lang="en-US" sz="1500" dirty="0"/>
          </a:p>
        </p:txBody>
      </p:sp>
      <p:sp>
        <p:nvSpPr>
          <p:cNvPr id="11" name="Text 8"/>
          <p:cNvSpPr txBox="1"/>
          <p:nvPr/>
        </p:nvSpPr>
        <p:spPr>
          <a:xfrm>
            <a:off x="82296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Order confirmations, prescription status and delivery updates delivered to the channel customers actually read, instead of email nobody opens.</a:t>
            </a:r>
            <a:endParaRPr lang="en-US" sz="1100" dirty="0"/>
          </a:p>
        </p:txBody>
      </p:sp>
      <p:sp>
        <p:nvSpPr>
          <p:cNvPr id="12" name="Text 9"/>
          <p:cNvSpPr txBox="1"/>
          <p:nvPr/>
        </p:nvSpPr>
        <p:spPr>
          <a:xfrm>
            <a:off x="93268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Order and payment confirmations</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Prescription approved or query raised</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Dispatch and delivery updates</a:t>
            </a:r>
            <a:endParaRPr lang="en-US" sz="1050" dirty="0"/>
          </a:p>
        </p:txBody>
      </p:sp>
      <p:sp>
        <p:nvSpPr>
          <p:cNvPr id="13" name="Shape 10"/>
          <p:cNvSpPr/>
          <p:nvPr/>
        </p:nvSpPr>
        <p:spPr>
          <a:xfrm>
            <a:off x="4297680" y="1783080"/>
            <a:ext cx="3429000" cy="4023360"/>
          </a:xfrm>
          <a:prstGeom prst="roundRect">
            <a:avLst>
              <a:gd name="adj" fmla="val 1600"/>
            </a:avLst>
          </a:prstGeom>
          <a:solidFill>
            <a:srgbClr val="F5F8FC"/>
          </a:solidFill>
          <a:ln w="12700">
            <a:solidFill>
              <a:srgbClr val="D9E2EC"/>
            </a:solidFill>
            <a:prstDash val="solid"/>
          </a:ln>
        </p:spPr>
      </p:sp>
      <p:sp>
        <p:nvSpPr>
          <p:cNvPr id="14" name="Shape 11"/>
          <p:cNvSpPr/>
          <p:nvPr/>
        </p:nvSpPr>
        <p:spPr>
          <a:xfrm>
            <a:off x="4572000" y="2011680"/>
            <a:ext cx="402336" cy="402336"/>
          </a:xfrm>
          <a:prstGeom prst="ellipse">
            <a:avLst/>
          </a:prstGeom>
          <a:solidFill>
            <a:srgbClr val="0054B4"/>
          </a:solidFill>
          <a:ln w="12700">
            <a:solidFill>
              <a:srgbClr val="0054B4"/>
            </a:solidFill>
            <a:prstDash val="solid"/>
          </a:ln>
        </p:spPr>
      </p:sp>
      <p:sp>
        <p:nvSpPr>
          <p:cNvPr id="15" name="Text 12"/>
          <p:cNvSpPr txBox="1"/>
          <p:nvPr/>
        </p:nvSpPr>
        <p:spPr>
          <a:xfrm>
            <a:off x="457200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457200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Support module</a:t>
            </a:r>
            <a:endParaRPr lang="en-US" sz="1500" dirty="0"/>
          </a:p>
        </p:txBody>
      </p:sp>
      <p:sp>
        <p:nvSpPr>
          <p:cNvPr id="17" name="Text 14"/>
          <p:cNvSpPr txBox="1"/>
          <p:nvPr/>
        </p:nvSpPr>
        <p:spPr>
          <a:xfrm>
            <a:off x="457200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One place for every customer query raised from the app, with an owner and a history — so questions stop living in personal phones and WhatsApp threads.</a:t>
            </a:r>
            <a:endParaRPr lang="en-US" sz="1100" dirty="0"/>
          </a:p>
        </p:txBody>
      </p:sp>
      <p:sp>
        <p:nvSpPr>
          <p:cNvPr id="18" name="Text 15"/>
          <p:cNvSpPr txBox="1"/>
          <p:nvPr/>
        </p:nvSpPr>
        <p:spPr>
          <a:xfrm>
            <a:off x="468172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Tickets raised from the app</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Assignment and status tracking</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Full conversation history</a:t>
            </a:r>
            <a:endParaRPr lang="en-US" sz="1050" dirty="0"/>
          </a:p>
        </p:txBody>
      </p:sp>
      <p:sp>
        <p:nvSpPr>
          <p:cNvPr id="19" name="Shape 16"/>
          <p:cNvSpPr/>
          <p:nvPr/>
        </p:nvSpPr>
        <p:spPr>
          <a:xfrm>
            <a:off x="8046720" y="1783080"/>
            <a:ext cx="3429000" cy="4023360"/>
          </a:xfrm>
          <a:prstGeom prst="roundRect">
            <a:avLst>
              <a:gd name="adj" fmla="val 1600"/>
            </a:avLst>
          </a:prstGeom>
          <a:solidFill>
            <a:srgbClr val="F5F8FC"/>
          </a:solidFill>
          <a:ln w="12700">
            <a:solidFill>
              <a:srgbClr val="D9E2EC"/>
            </a:solidFill>
            <a:prstDash val="solid"/>
          </a:ln>
        </p:spPr>
      </p:sp>
      <p:sp>
        <p:nvSpPr>
          <p:cNvPr id="20" name="Shape 17"/>
          <p:cNvSpPr/>
          <p:nvPr/>
        </p:nvSpPr>
        <p:spPr>
          <a:xfrm>
            <a:off x="8321040" y="2011680"/>
            <a:ext cx="402336" cy="402336"/>
          </a:xfrm>
          <a:prstGeom prst="ellipse">
            <a:avLst/>
          </a:prstGeom>
          <a:solidFill>
            <a:srgbClr val="0054B4"/>
          </a:solidFill>
          <a:ln w="12700">
            <a:solidFill>
              <a:srgbClr val="0054B4"/>
            </a:solidFill>
            <a:prstDash val="solid"/>
          </a:ln>
        </p:spPr>
      </p:sp>
      <p:sp>
        <p:nvSpPr>
          <p:cNvPr id="21" name="Text 18"/>
          <p:cNvSpPr txBox="1"/>
          <p:nvPr/>
        </p:nvSpPr>
        <p:spPr>
          <a:xfrm>
            <a:off x="832104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32104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Pharmacist enhancements</a:t>
            </a:r>
            <a:endParaRPr lang="en-US" sz="1500" dirty="0"/>
          </a:p>
        </p:txBody>
      </p:sp>
      <p:sp>
        <p:nvSpPr>
          <p:cNvPr id="23" name="Text 20"/>
          <p:cNvSpPr txBox="1"/>
          <p:nvPr/>
        </p:nvSpPr>
        <p:spPr>
          <a:xfrm>
            <a:off x="832104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Faster work at the retail counter: a cleaner prescription review queue and improved OCR extraction that removes manual re-typing.</a:t>
            </a:r>
            <a:endParaRPr lang="en-US" sz="1100" dirty="0"/>
          </a:p>
        </p:txBody>
      </p:sp>
      <p:sp>
        <p:nvSpPr>
          <p:cNvPr id="24" name="Text 21"/>
          <p:cNvSpPr txBox="1"/>
          <p:nvPr/>
        </p:nvSpPr>
        <p:spPr>
          <a:xfrm>
            <a:off x="843076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Streamlined review queue</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Better OCR match accuracy</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Fewer clicks per order</a:t>
            </a:r>
            <a:endParaRPr lang="en-US" sz="1050" dirty="0"/>
          </a:p>
        </p:txBody>
      </p:sp>
      <p:sp>
        <p:nvSpPr>
          <p:cNvPr id="25" name="Text 2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WhatsApp messaging runs through AiSensy, already integrated and live in production for order events.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A"/>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932688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Phase 1 — payments and delivery</a:t>
            </a:r>
            <a:endParaRPr lang="en-US" sz="3300" dirty="0"/>
          </a:p>
        </p:txBody>
      </p:sp>
      <p:sp>
        <p:nvSpPr>
          <p:cNvPr id="4" name="Text 1"/>
          <p:cNvSpPr txBox="1"/>
          <p:nvPr/>
        </p:nvSpPr>
        <p:spPr>
          <a:xfrm>
            <a:off x="548640" y="1152144"/>
            <a:ext cx="105156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Six stages, each shippable on its own so value arrives before the whole programme finishes.</a:t>
            </a:r>
            <a:endParaRPr lang="en-US" sz="1350" dirty="0"/>
          </a:p>
        </p:txBody>
      </p:sp>
      <p:sp>
        <p:nvSpPr>
          <p:cNvPr id="5" name="Shape 2"/>
          <p:cNvSpPr/>
          <p:nvPr/>
        </p:nvSpPr>
        <p:spPr>
          <a:xfrm>
            <a:off x="749808" y="2157984"/>
            <a:ext cx="9601200" cy="27432"/>
          </a:xfrm>
          <a:prstGeom prst="rect">
            <a:avLst/>
          </a:prstGeom>
          <a:solidFill>
            <a:srgbClr val="D9E2EC"/>
          </a:solidFill>
          <a:ln w="12700">
            <a:solidFill>
              <a:srgbClr val="D9E2EC"/>
            </a:solidFill>
            <a:prstDash val="solid"/>
          </a:ln>
        </p:spPr>
      </p:sp>
      <p:sp>
        <p:nvSpPr>
          <p:cNvPr id="6" name="Shape 3"/>
          <p:cNvSpPr/>
          <p:nvPr/>
        </p:nvSpPr>
        <p:spPr>
          <a:xfrm>
            <a:off x="548640" y="1956816"/>
            <a:ext cx="438912" cy="438912"/>
          </a:xfrm>
          <a:prstGeom prst="ellipse">
            <a:avLst/>
          </a:prstGeom>
          <a:solidFill>
            <a:srgbClr val="0054B4"/>
          </a:solidFill>
          <a:ln w="12700">
            <a:solidFill>
              <a:srgbClr val="0054B4"/>
            </a:solidFill>
            <a:prstDash val="solid"/>
          </a:ln>
        </p:spPr>
      </p:sp>
      <p:sp>
        <p:nvSpPr>
          <p:cNvPr id="7" name="Text 4"/>
          <p:cNvSpPr txBox="1"/>
          <p:nvPr/>
        </p:nvSpPr>
        <p:spPr>
          <a:xfrm>
            <a:off x="548640"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512064"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Foundations</a:t>
            </a:r>
            <a:endParaRPr lang="en-US" sz="1250" dirty="0"/>
          </a:p>
        </p:txBody>
      </p:sp>
      <p:sp>
        <p:nvSpPr>
          <p:cNvPr id="9" name="Text 6"/>
          <p:cNvSpPr txBox="1"/>
          <p:nvPr/>
        </p:nvSpPr>
        <p:spPr>
          <a:xfrm>
            <a:off x="512064"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Order and money data made reliable</a:t>
            </a:r>
            <a:endParaRPr lang="en-US" sz="1050" dirty="0"/>
          </a:p>
        </p:txBody>
      </p:sp>
      <p:sp>
        <p:nvSpPr>
          <p:cNvPr id="10" name="Shape 7"/>
          <p:cNvSpPr/>
          <p:nvPr/>
        </p:nvSpPr>
        <p:spPr>
          <a:xfrm>
            <a:off x="2414016" y="1956816"/>
            <a:ext cx="438912" cy="438912"/>
          </a:xfrm>
          <a:prstGeom prst="ellipse">
            <a:avLst/>
          </a:prstGeom>
          <a:solidFill>
            <a:srgbClr val="0054B4"/>
          </a:solidFill>
          <a:ln w="12700">
            <a:solidFill>
              <a:srgbClr val="0054B4"/>
            </a:solidFill>
            <a:prstDash val="solid"/>
          </a:ln>
        </p:spPr>
      </p:sp>
      <p:sp>
        <p:nvSpPr>
          <p:cNvPr id="11" name="Text 8"/>
          <p:cNvSpPr txBox="1"/>
          <p:nvPr/>
        </p:nvSpPr>
        <p:spPr>
          <a:xfrm>
            <a:off x="2414016"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2377440"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Online payments</a:t>
            </a:r>
            <a:endParaRPr lang="en-US" sz="1250" dirty="0"/>
          </a:p>
        </p:txBody>
      </p:sp>
      <p:sp>
        <p:nvSpPr>
          <p:cNvPr id="13" name="Text 10"/>
          <p:cNvSpPr txBox="1"/>
          <p:nvPr/>
        </p:nvSpPr>
        <p:spPr>
          <a:xfrm>
            <a:off x="2377440"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Razorpay for over-the-counter orders</a:t>
            </a:r>
            <a:endParaRPr lang="en-US" sz="1050" dirty="0"/>
          </a:p>
        </p:txBody>
      </p:sp>
      <p:sp>
        <p:nvSpPr>
          <p:cNvPr id="14" name="Shape 11"/>
          <p:cNvSpPr/>
          <p:nvPr/>
        </p:nvSpPr>
        <p:spPr>
          <a:xfrm>
            <a:off x="4279392" y="1956816"/>
            <a:ext cx="438912" cy="438912"/>
          </a:xfrm>
          <a:prstGeom prst="ellipse">
            <a:avLst/>
          </a:prstGeom>
          <a:solidFill>
            <a:srgbClr val="0054B4"/>
          </a:solidFill>
          <a:ln w="12700">
            <a:solidFill>
              <a:srgbClr val="0054B4"/>
            </a:solidFill>
            <a:prstDash val="solid"/>
          </a:ln>
        </p:spPr>
      </p:sp>
      <p:sp>
        <p:nvSpPr>
          <p:cNvPr id="15" name="Text 12"/>
          <p:cNvSpPr txBox="1"/>
          <p:nvPr/>
        </p:nvSpPr>
        <p:spPr>
          <a:xfrm>
            <a:off x="4279392"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4242816"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Cash on delivery</a:t>
            </a:r>
            <a:endParaRPr lang="en-US" sz="1250" dirty="0"/>
          </a:p>
        </p:txBody>
      </p:sp>
      <p:sp>
        <p:nvSpPr>
          <p:cNvPr id="17" name="Text 14"/>
          <p:cNvSpPr txBox="1"/>
          <p:nvPr/>
        </p:nvSpPr>
        <p:spPr>
          <a:xfrm>
            <a:off x="4242816"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Coverage check and cash reconciliation</a:t>
            </a:r>
            <a:endParaRPr lang="en-US" sz="1050" dirty="0"/>
          </a:p>
        </p:txBody>
      </p:sp>
      <p:sp>
        <p:nvSpPr>
          <p:cNvPr id="18" name="Shape 15"/>
          <p:cNvSpPr/>
          <p:nvPr/>
        </p:nvSpPr>
        <p:spPr>
          <a:xfrm>
            <a:off x="6144768" y="1956816"/>
            <a:ext cx="438912" cy="438912"/>
          </a:xfrm>
          <a:prstGeom prst="ellipse">
            <a:avLst/>
          </a:prstGeom>
          <a:solidFill>
            <a:srgbClr val="0054B4"/>
          </a:solidFill>
          <a:ln w="12700">
            <a:solidFill>
              <a:srgbClr val="0054B4"/>
            </a:solidFill>
            <a:prstDash val="solid"/>
          </a:ln>
        </p:spPr>
      </p:sp>
      <p:sp>
        <p:nvSpPr>
          <p:cNvPr id="19" name="Text 16"/>
          <p:cNvSpPr txBox="1"/>
          <p:nvPr/>
        </p:nvSpPr>
        <p:spPr>
          <a:xfrm>
            <a:off x="6144768"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6108192"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Courier link-up</a:t>
            </a:r>
            <a:endParaRPr lang="en-US" sz="1250" dirty="0"/>
          </a:p>
        </p:txBody>
      </p:sp>
      <p:sp>
        <p:nvSpPr>
          <p:cNvPr id="21" name="Text 18"/>
          <p:cNvSpPr txBox="1"/>
          <p:nvPr/>
        </p:nvSpPr>
        <p:spPr>
          <a:xfrm>
            <a:off x="6108192"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Labels, tracking, delivery updates</a:t>
            </a:r>
            <a:endParaRPr lang="en-US" sz="1050" dirty="0"/>
          </a:p>
        </p:txBody>
      </p:sp>
      <p:sp>
        <p:nvSpPr>
          <p:cNvPr id="22" name="Shape 19"/>
          <p:cNvSpPr/>
          <p:nvPr/>
        </p:nvSpPr>
        <p:spPr>
          <a:xfrm>
            <a:off x="8010144" y="1956816"/>
            <a:ext cx="438912" cy="438912"/>
          </a:xfrm>
          <a:prstGeom prst="ellipse">
            <a:avLst/>
          </a:prstGeom>
          <a:solidFill>
            <a:srgbClr val="0054B4"/>
          </a:solidFill>
          <a:ln w="12700">
            <a:solidFill>
              <a:srgbClr val="0054B4"/>
            </a:solidFill>
            <a:prstDash val="solid"/>
          </a:ln>
        </p:spPr>
      </p:sp>
      <p:sp>
        <p:nvSpPr>
          <p:cNvPr id="23" name="Text 20"/>
          <p:cNvSpPr txBox="1"/>
          <p:nvPr/>
        </p:nvSpPr>
        <p:spPr>
          <a:xfrm>
            <a:off x="8010144"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1"/>
          <p:cNvSpPr txBox="1"/>
          <p:nvPr/>
        </p:nvSpPr>
        <p:spPr>
          <a:xfrm>
            <a:off x="7973568"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Prescription flow</a:t>
            </a:r>
            <a:endParaRPr lang="en-US" sz="1250" dirty="0"/>
          </a:p>
        </p:txBody>
      </p:sp>
      <p:sp>
        <p:nvSpPr>
          <p:cNvPr id="25" name="Text 22"/>
          <p:cNvSpPr txBox="1"/>
          <p:nvPr/>
        </p:nvSpPr>
        <p:spPr>
          <a:xfrm>
            <a:off x="7973568"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Pharmacist approval before payment</a:t>
            </a:r>
            <a:endParaRPr lang="en-US" sz="1050" dirty="0"/>
          </a:p>
        </p:txBody>
      </p:sp>
      <p:sp>
        <p:nvSpPr>
          <p:cNvPr id="26" name="Shape 23"/>
          <p:cNvSpPr/>
          <p:nvPr/>
        </p:nvSpPr>
        <p:spPr>
          <a:xfrm>
            <a:off x="9875520" y="1956816"/>
            <a:ext cx="438912" cy="438912"/>
          </a:xfrm>
          <a:prstGeom prst="ellipse">
            <a:avLst/>
          </a:prstGeom>
          <a:solidFill>
            <a:srgbClr val="0054B4"/>
          </a:solidFill>
          <a:ln w="12700">
            <a:solidFill>
              <a:srgbClr val="0054B4"/>
            </a:solidFill>
            <a:prstDash val="solid"/>
          </a:ln>
        </p:spPr>
      </p:sp>
      <p:sp>
        <p:nvSpPr>
          <p:cNvPr id="27" name="Text 24"/>
          <p:cNvSpPr txBox="1"/>
          <p:nvPr/>
        </p:nvSpPr>
        <p:spPr>
          <a:xfrm>
            <a:off x="9875520"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5"/>
          <p:cNvSpPr txBox="1"/>
          <p:nvPr/>
        </p:nvSpPr>
        <p:spPr>
          <a:xfrm>
            <a:off x="9838944"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Returns &amp; reports</a:t>
            </a:r>
            <a:endParaRPr lang="en-US" sz="1250" dirty="0"/>
          </a:p>
        </p:txBody>
      </p:sp>
      <p:sp>
        <p:nvSpPr>
          <p:cNvPr id="29" name="Text 26"/>
          <p:cNvSpPr txBox="1"/>
          <p:nvPr/>
        </p:nvSpPr>
        <p:spPr>
          <a:xfrm>
            <a:off x="9838944"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Refunds, settlement, finance export</a:t>
            </a:r>
            <a:endParaRPr lang="en-US" sz="1050" dirty="0"/>
          </a:p>
        </p:txBody>
      </p:sp>
      <p:sp>
        <p:nvSpPr>
          <p:cNvPr id="30" name="Shape 27"/>
          <p:cNvSpPr/>
          <p:nvPr/>
        </p:nvSpPr>
        <p:spPr>
          <a:xfrm>
            <a:off x="548640" y="3913632"/>
            <a:ext cx="5257800" cy="1783080"/>
          </a:xfrm>
          <a:prstGeom prst="roundRect">
            <a:avLst>
              <a:gd name="adj" fmla="val 3077"/>
            </a:avLst>
          </a:prstGeom>
          <a:solidFill>
            <a:srgbClr val="FFFFFF"/>
          </a:solidFill>
          <a:ln w="12700">
            <a:solidFill>
              <a:srgbClr val="D9E2EC"/>
            </a:solidFill>
            <a:prstDash val="solid"/>
          </a:ln>
        </p:spPr>
      </p:sp>
      <p:sp>
        <p:nvSpPr>
          <p:cNvPr id="31" name="Text 28"/>
          <p:cNvSpPr txBox="1"/>
          <p:nvPr/>
        </p:nvSpPr>
        <p:spPr>
          <a:xfrm>
            <a:off x="859536" y="4133088"/>
            <a:ext cx="4663440" cy="329184"/>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Payments — Razorpay</a:t>
            </a:r>
            <a:endParaRPr lang="en-US" sz="1500" dirty="0"/>
          </a:p>
        </p:txBody>
      </p:sp>
      <p:sp>
        <p:nvSpPr>
          <p:cNvPr id="32" name="Text 29"/>
          <p:cNvSpPr txBox="1"/>
          <p:nvPr/>
        </p:nvSpPr>
        <p:spPr>
          <a:xfrm>
            <a:off x="859536" y="4498848"/>
            <a:ext cx="4663440" cy="105156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Cards, UPI, net banking and wallets, plus cash on delivery from launch. Over-the-counter orders pay at checkout. Prescription orders pay only after a pharmacist has approved the items, so we never hold money for medicine we cannot lawfully supply.</a:t>
            </a:r>
            <a:endParaRPr lang="en-US" sz="1150" dirty="0"/>
          </a:p>
        </p:txBody>
      </p:sp>
      <p:sp>
        <p:nvSpPr>
          <p:cNvPr id="33" name="Shape 30"/>
          <p:cNvSpPr/>
          <p:nvPr/>
        </p:nvSpPr>
        <p:spPr>
          <a:xfrm>
            <a:off x="6355080" y="3913632"/>
            <a:ext cx="5257800" cy="1783080"/>
          </a:xfrm>
          <a:prstGeom prst="roundRect">
            <a:avLst>
              <a:gd name="adj" fmla="val 3077"/>
            </a:avLst>
          </a:prstGeom>
          <a:solidFill>
            <a:srgbClr val="FFFFFF"/>
          </a:solidFill>
          <a:ln w="12700">
            <a:solidFill>
              <a:srgbClr val="D9E2EC"/>
            </a:solidFill>
            <a:prstDash val="solid"/>
          </a:ln>
        </p:spPr>
      </p:sp>
      <p:sp>
        <p:nvSpPr>
          <p:cNvPr id="34" name="Text 31"/>
          <p:cNvSpPr txBox="1"/>
          <p:nvPr/>
        </p:nvSpPr>
        <p:spPr>
          <a:xfrm>
            <a:off x="6665976" y="4133088"/>
            <a:ext cx="4663440" cy="329184"/>
          </a:xfrm>
          <a:prstGeom prst="rect">
            <a:avLst/>
          </a:prstGeom>
          <a:noFill/>
          <a:ln/>
        </p:spPr>
        <p:txBody>
          <a:bodyPr wrap="square" lIns="0" tIns="0" rIns="0" bIns="0" rtlCol="0" anchor="ctr"/>
          <a:lstStyle/>
          <a:p>
            <a:pPr indent="0" marL="0">
              <a:buNone/>
            </a:pPr>
            <a:r>
              <a:rPr lang="en-US" sz="1500" b="1" dirty="0">
                <a:solidFill>
                  <a:srgbClr val="FC7800"/>
                </a:solidFill>
                <a:latin typeface="Calibri" pitchFamily="34" charset="0"/>
                <a:ea typeface="Calibri" pitchFamily="34" charset="-122"/>
                <a:cs typeface="Calibri" pitchFamily="34" charset="-120"/>
              </a:rPr>
              <a:t>Delivery — logistics aggregator</a:t>
            </a:r>
            <a:endParaRPr lang="en-US" sz="1500" dirty="0"/>
          </a:p>
        </p:txBody>
      </p:sp>
      <p:sp>
        <p:nvSpPr>
          <p:cNvPr id="35" name="Text 32"/>
          <p:cNvSpPr txBox="1"/>
          <p:nvPr/>
        </p:nvSpPr>
        <p:spPr>
          <a:xfrm>
            <a:off x="6665976" y="4498848"/>
            <a:ext cx="4663440" cy="105156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A single integration reaching many couriers nationally. Delivery coverage is checked while the customer is still choosing, not after they have paid, and tracking updates flow back automatically into order status.</a:t>
            </a:r>
            <a:endParaRPr lang="en-US" sz="1150" dirty="0"/>
          </a:p>
        </p:txBody>
      </p:sp>
      <p:sp>
        <p:nvSpPr>
          <p:cNvPr id="36" name="Text 33"/>
          <p:cNvSpPr txBox="1"/>
          <p:nvPr/>
        </p:nvSpPr>
        <p:spPr>
          <a:xfrm>
            <a:off x="548640" y="5925312"/>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Sequencing note: the money path and the delivery path are each proven separately before prescription approval couples them together.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9509760" cy="566928"/>
          </a:xfrm>
          <a:prstGeom prst="rect">
            <a:avLst/>
          </a:prstGeom>
          <a:noFill/>
          <a:ln/>
        </p:spPr>
        <p:txBody>
          <a:bodyPr wrap="square" lIns="0" tIns="0" rIns="0" bIns="0" rtlCol="0" anchor="ctr"/>
          <a:lstStyle/>
          <a:p>
            <a:pPr indent="0" marL="0">
              <a:buNone/>
            </a:pPr>
            <a:r>
              <a:rPr lang="en-US" sz="3100" b="1" dirty="0">
                <a:solidFill>
                  <a:srgbClr val="16222E"/>
                </a:solidFill>
                <a:latin typeface="Cambria" pitchFamily="34" charset="0"/>
                <a:ea typeface="Cambria" pitchFamily="34" charset="-122"/>
                <a:cs typeface="Cambria" pitchFamily="34" charset="-120"/>
              </a:rPr>
              <a:t>Phase 2 — catalogue and WhatsApp commerce</a:t>
            </a:r>
            <a:endParaRPr lang="en-US" sz="3100" dirty="0"/>
          </a:p>
        </p:txBody>
      </p:sp>
      <p:sp>
        <p:nvSpPr>
          <p:cNvPr id="4" name="Text 1"/>
          <p:cNvSpPr txBox="1"/>
          <p:nvPr/>
        </p:nvSpPr>
        <p:spPr>
          <a:xfrm>
            <a:off x="548640" y="1152144"/>
            <a:ext cx="96012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Scaling what we sell, and meeting customers where they already are.</a:t>
            </a:r>
            <a:endParaRPr lang="en-US" sz="1350" dirty="0"/>
          </a:p>
        </p:txBody>
      </p:sp>
      <p:sp>
        <p:nvSpPr>
          <p:cNvPr id="5" name="Shape 2"/>
          <p:cNvSpPr/>
          <p:nvPr/>
        </p:nvSpPr>
        <p:spPr>
          <a:xfrm>
            <a:off x="548640" y="1783080"/>
            <a:ext cx="5257800" cy="3611880"/>
          </a:xfrm>
          <a:prstGeom prst="roundRect">
            <a:avLst>
              <a:gd name="adj" fmla="val 1519"/>
            </a:avLst>
          </a:prstGeom>
          <a:solidFill>
            <a:srgbClr val="F5F8FC"/>
          </a:solidFill>
          <a:ln w="12700">
            <a:solidFill>
              <a:srgbClr val="D9E2EC"/>
            </a:solidFill>
            <a:prstDash val="solid"/>
          </a:ln>
        </p:spPr>
      </p:sp>
      <p:sp>
        <p:nvSpPr>
          <p:cNvPr id="6" name="Shape 3"/>
          <p:cNvSpPr/>
          <p:nvPr/>
        </p:nvSpPr>
        <p:spPr>
          <a:xfrm>
            <a:off x="859536" y="2029968"/>
            <a:ext cx="420624" cy="420624"/>
          </a:xfrm>
          <a:prstGeom prst="ellipse">
            <a:avLst/>
          </a:prstGeom>
          <a:solidFill>
            <a:srgbClr val="0054B4"/>
          </a:solidFill>
          <a:ln w="12700">
            <a:solidFill>
              <a:srgbClr val="0054B4"/>
            </a:solidFill>
            <a:prstDash val="solid"/>
          </a:ln>
        </p:spPr>
      </p:sp>
      <p:sp>
        <p:nvSpPr>
          <p:cNvPr id="7" name="Text 4"/>
          <p:cNvSpPr txBox="1"/>
          <p:nvPr/>
        </p:nvSpPr>
        <p:spPr>
          <a:xfrm>
            <a:off x="859536"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426464" y="2029968"/>
            <a:ext cx="4114800" cy="420624"/>
          </a:xfrm>
          <a:prstGeom prst="rect">
            <a:avLst/>
          </a:prstGeom>
          <a:noFill/>
          <a:ln/>
        </p:spPr>
        <p:txBody>
          <a:bodyPr wrap="square" lIns="0" tIns="0" rIns="0" bIns="0" rtlCol="0" anchor="ctr"/>
          <a:lstStyle/>
          <a:p>
            <a:pPr indent="0" marL="0">
              <a:buNone/>
            </a:pPr>
            <a:r>
              <a:rPr lang="en-US" sz="1700" b="1" dirty="0">
                <a:solidFill>
                  <a:srgbClr val="0054B4"/>
                </a:solidFill>
                <a:latin typeface="Calibri" pitchFamily="34" charset="0"/>
                <a:ea typeface="Calibri" pitchFamily="34" charset="-122"/>
                <a:cs typeface="Calibri" pitchFamily="34" charset="-120"/>
              </a:rPr>
              <a:t>Bulk medicine upload</a:t>
            </a:r>
            <a:endParaRPr lang="en-US" sz="1700" dirty="0"/>
          </a:p>
        </p:txBody>
      </p:sp>
      <p:sp>
        <p:nvSpPr>
          <p:cNvPr id="9" name="Text 6"/>
          <p:cNvSpPr txBox="1"/>
          <p:nvPr/>
        </p:nvSpPr>
        <p:spPr>
          <a:xfrm>
            <a:off x="859536" y="2606040"/>
            <a:ext cx="4663440" cy="86868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Spreadsheet import for the catalogue, so adding or repricing thousands of products becomes a routine ten-minute operation instead of a project.</a:t>
            </a:r>
            <a:endParaRPr lang="en-US" sz="1200" dirty="0"/>
          </a:p>
        </p:txBody>
      </p:sp>
      <p:sp>
        <p:nvSpPr>
          <p:cNvPr id="10" name="Text 7"/>
          <p:cNvSpPr txBox="1"/>
          <p:nvPr/>
        </p:nvSpPr>
        <p:spPr>
          <a:xfrm>
            <a:off x="987552" y="3584448"/>
            <a:ext cx="448056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Download a template, fill, upload</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Dry-run validation before anything saves</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Per-row error report, not one vague failure</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Audit trail of who imported what, and when</a:t>
            </a:r>
            <a:endParaRPr lang="en-US" sz="1100" dirty="0"/>
          </a:p>
        </p:txBody>
      </p:sp>
      <p:sp>
        <p:nvSpPr>
          <p:cNvPr id="11" name="Shape 8"/>
          <p:cNvSpPr/>
          <p:nvPr/>
        </p:nvSpPr>
        <p:spPr>
          <a:xfrm>
            <a:off x="6355080" y="1783080"/>
            <a:ext cx="5257800" cy="3611880"/>
          </a:xfrm>
          <a:prstGeom prst="roundRect">
            <a:avLst>
              <a:gd name="adj" fmla="val 1519"/>
            </a:avLst>
          </a:prstGeom>
          <a:solidFill>
            <a:srgbClr val="F5F8FC"/>
          </a:solidFill>
          <a:ln w="12700">
            <a:solidFill>
              <a:srgbClr val="D9E2EC"/>
            </a:solidFill>
            <a:prstDash val="solid"/>
          </a:ln>
        </p:spPr>
      </p:sp>
      <p:sp>
        <p:nvSpPr>
          <p:cNvPr id="12" name="Shape 9"/>
          <p:cNvSpPr/>
          <p:nvPr/>
        </p:nvSpPr>
        <p:spPr>
          <a:xfrm>
            <a:off x="6665976" y="2029968"/>
            <a:ext cx="420624" cy="420624"/>
          </a:xfrm>
          <a:prstGeom prst="ellipse">
            <a:avLst/>
          </a:prstGeom>
          <a:solidFill>
            <a:srgbClr val="FC7800"/>
          </a:solidFill>
          <a:ln w="12700">
            <a:solidFill>
              <a:srgbClr val="FC7800"/>
            </a:solidFill>
            <a:prstDash val="solid"/>
          </a:ln>
        </p:spPr>
      </p:sp>
      <p:sp>
        <p:nvSpPr>
          <p:cNvPr id="13" name="Text 10"/>
          <p:cNvSpPr txBox="1"/>
          <p:nvPr/>
        </p:nvSpPr>
        <p:spPr>
          <a:xfrm>
            <a:off x="6665976"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7232904" y="2029968"/>
            <a:ext cx="4114800" cy="420624"/>
          </a:xfrm>
          <a:prstGeom prst="rect">
            <a:avLst/>
          </a:prstGeom>
          <a:noFill/>
          <a:ln/>
        </p:spPr>
        <p:txBody>
          <a:bodyPr wrap="square" lIns="0" tIns="0" rIns="0" bIns="0" rtlCol="0" anchor="ctr"/>
          <a:lstStyle/>
          <a:p>
            <a:pPr indent="0" marL="0">
              <a:buNone/>
            </a:pPr>
            <a:r>
              <a:rPr lang="en-US" sz="1700" b="1" dirty="0">
                <a:solidFill>
                  <a:srgbClr val="FC7800"/>
                </a:solidFill>
                <a:latin typeface="Calibri" pitchFamily="34" charset="0"/>
                <a:ea typeface="Calibri" pitchFamily="34" charset="-122"/>
                <a:cs typeface="Calibri" pitchFamily="34" charset="-120"/>
              </a:rPr>
              <a:t>WhatsApp buying</a:t>
            </a:r>
            <a:endParaRPr lang="en-US" sz="1700" dirty="0"/>
          </a:p>
        </p:txBody>
      </p:sp>
      <p:sp>
        <p:nvSpPr>
          <p:cNvPr id="15" name="Text 12"/>
          <p:cNvSpPr txBox="1"/>
          <p:nvPr/>
        </p:nvSpPr>
        <p:spPr>
          <a:xfrm>
            <a:off x="6665976" y="2606040"/>
            <a:ext cx="4663440" cy="86868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Customers order without leaving the chat: send a prescription photo, receive matched medicines with prices, confirm and pay in the same conversation.</a:t>
            </a:r>
            <a:endParaRPr lang="en-US" sz="1200" dirty="0"/>
          </a:p>
        </p:txBody>
      </p:sp>
      <p:sp>
        <p:nvSpPr>
          <p:cNvPr id="16" name="Text 13"/>
          <p:cNvSpPr txBox="1"/>
          <p:nvPr/>
        </p:nvSpPr>
        <p:spPr>
          <a:xfrm>
            <a:off x="6793992" y="3584448"/>
            <a:ext cx="448056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Prescription photo straight into OCR</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Suggested items with prices in-chat</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Confirm and pay without an app install</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Reaches customers who never download apps</a:t>
            </a:r>
            <a:endParaRPr lang="en-US" sz="1100" dirty="0"/>
          </a:p>
        </p:txBody>
      </p:sp>
      <p:sp>
        <p:nvSpPr>
          <p:cNvPr id="17" name="Shape 14"/>
          <p:cNvSpPr/>
          <p:nvPr/>
        </p:nvSpPr>
        <p:spPr>
          <a:xfrm>
            <a:off x="548640" y="5541264"/>
            <a:ext cx="11064240" cy="658368"/>
          </a:xfrm>
          <a:prstGeom prst="roundRect">
            <a:avLst>
              <a:gd name="adj" fmla="val 8333"/>
            </a:avLst>
          </a:prstGeom>
          <a:solidFill>
            <a:srgbClr val="FFF4E8"/>
          </a:solidFill>
          <a:ln w="12700">
            <a:solidFill>
              <a:srgbClr val="F5CFA4"/>
            </a:solidFill>
            <a:prstDash val="solid"/>
          </a:ln>
        </p:spPr>
      </p:sp>
      <p:sp>
        <p:nvSpPr>
          <p:cNvPr id="18" name="Shape 15"/>
          <p:cNvSpPr/>
          <p:nvPr/>
        </p:nvSpPr>
        <p:spPr>
          <a:xfrm>
            <a:off x="804672" y="5678424"/>
            <a:ext cx="384048" cy="384048"/>
          </a:xfrm>
          <a:prstGeom prst="ellipse">
            <a:avLst/>
          </a:prstGeom>
          <a:solidFill>
            <a:srgbClr val="FC7800"/>
          </a:solidFill>
          <a:ln w="12700">
            <a:solidFill>
              <a:srgbClr val="FC7800"/>
            </a:solidFill>
            <a:prstDash val="solid"/>
          </a:ln>
        </p:spPr>
      </p:sp>
      <p:sp>
        <p:nvSpPr>
          <p:cNvPr id="19" name="Text 16"/>
          <p:cNvSpPr txBox="1"/>
          <p:nvPr/>
        </p:nvSpPr>
        <p:spPr>
          <a:xfrm>
            <a:off x="804672" y="56784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7"/>
          <p:cNvSpPr txBox="1"/>
          <p:nvPr/>
        </p:nvSpPr>
        <p:spPr>
          <a:xfrm>
            <a:off x="1371600" y="5660136"/>
            <a:ext cx="10058400" cy="420624"/>
          </a:xfrm>
          <a:prstGeom prst="rect">
            <a:avLst/>
          </a:prstGeom>
          <a:noFill/>
          <a:ln/>
        </p:spPr>
        <p:txBody>
          <a:bodyPr wrap="square" lIns="0" tIns="0" rIns="0" bIns="0" rtlCol="0" anchor="ctr"/>
          <a:lstStyle/>
          <a:p>
            <a:pPr indent="0" marL="0">
              <a:buNone/>
            </a:pPr>
            <a:r>
              <a:rPr lang="en-US" sz="1200" dirty="0">
                <a:solidFill>
                  <a:srgbClr val="7A4A16"/>
                </a:solidFill>
                <a:latin typeface="Calibri" pitchFamily="34" charset="0"/>
                <a:ea typeface="Calibri" pitchFamily="34" charset="-122"/>
                <a:cs typeface="Calibri" pitchFamily="34" charset="-120"/>
              </a:rPr>
              <a:t>WhatsApp buying depends on Phase 1. Taking payment inside a chat needs the payment and delivery work finished first — it cannot be pulled forward.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E"/>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603504"/>
            <a:ext cx="9144000" cy="585216"/>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What we need from you</a:t>
            </a:r>
            <a:endParaRPr lang="en-US" sz="3300" dirty="0"/>
          </a:p>
        </p:txBody>
      </p:sp>
      <p:sp>
        <p:nvSpPr>
          <p:cNvPr id="4" name="Text 1"/>
          <p:cNvSpPr txBox="1"/>
          <p:nvPr/>
        </p:nvSpPr>
        <p:spPr>
          <a:xfrm>
            <a:off x="548640" y="1207008"/>
            <a:ext cx="10058400" cy="292608"/>
          </a:xfrm>
          <a:prstGeom prst="rect">
            <a:avLst/>
          </a:prstGeom>
          <a:noFill/>
          <a:ln/>
        </p:spPr>
        <p:txBody>
          <a:bodyPr wrap="square" lIns="0" tIns="0" rIns="0" bIns="0" rtlCol="0" anchor="ctr"/>
          <a:lstStyle/>
          <a:p>
            <a:pPr indent="0" marL="0">
              <a:buNone/>
            </a:pPr>
            <a:r>
              <a:rPr lang="en-US" sz="1350" dirty="0">
                <a:solidFill>
                  <a:srgbClr val="9BABBC"/>
                </a:solidFill>
                <a:latin typeface="Calibri" pitchFamily="34" charset="0"/>
                <a:ea typeface="Calibri" pitchFamily="34" charset="-122"/>
                <a:cs typeface="Calibri" pitchFamily="34" charset="-120"/>
              </a:rPr>
              <a:t>Four decisions that sit outside engineering and gate the work above.</a:t>
            </a:r>
            <a:endParaRPr lang="en-US" sz="1350" dirty="0"/>
          </a:p>
        </p:txBody>
      </p:sp>
      <p:sp>
        <p:nvSpPr>
          <p:cNvPr id="5" name="Shape 2"/>
          <p:cNvSpPr/>
          <p:nvPr/>
        </p:nvSpPr>
        <p:spPr>
          <a:xfrm>
            <a:off x="548640" y="1865376"/>
            <a:ext cx="384048" cy="384048"/>
          </a:xfrm>
          <a:prstGeom prst="ellipse">
            <a:avLst/>
          </a:prstGeom>
          <a:solidFill>
            <a:srgbClr val="FC7800"/>
          </a:solidFill>
          <a:ln w="12700">
            <a:solidFill>
              <a:srgbClr val="FC7800"/>
            </a:solidFill>
            <a:prstDash val="solid"/>
          </a:ln>
        </p:spPr>
      </p:sp>
      <p:sp>
        <p:nvSpPr>
          <p:cNvPr id="6" name="Text 3"/>
          <p:cNvSpPr txBox="1"/>
          <p:nvPr/>
        </p:nvSpPr>
        <p:spPr>
          <a:xfrm>
            <a:off x="548640"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4"/>
          <p:cNvSpPr txBox="1"/>
          <p:nvPr/>
        </p:nvSpPr>
        <p:spPr>
          <a:xfrm>
            <a:off x="1152144" y="1828800"/>
            <a:ext cx="640080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Start payment-gateway onboarding now</a:t>
            </a:r>
            <a:endParaRPr lang="en-US" sz="1550" dirty="0"/>
          </a:p>
        </p:txBody>
      </p:sp>
      <p:sp>
        <p:nvSpPr>
          <p:cNvPr id="8" name="Text 5"/>
          <p:cNvSpPr txBox="1"/>
          <p:nvPr/>
        </p:nvSpPr>
        <p:spPr>
          <a:xfrm>
            <a:off x="1152144" y="2157984"/>
            <a:ext cx="10424160" cy="621792"/>
          </a:xfrm>
          <a:prstGeom prst="rect">
            <a:avLst/>
          </a:prstGeom>
          <a:noFill/>
          <a:ln/>
        </p:spPr>
        <p:txBody>
          <a:bodyPr wrap="square" lIns="0" tIns="0" rIns="0" bIns="0" rtlCol="0" anchor="ctr"/>
          <a:lstStyle/>
          <a:p>
            <a:pPr indent="0" marL="0">
              <a:lnSpc>
                <a:spcPts val="1600"/>
              </a:lnSpc>
              <a:buNone/>
            </a:pPr>
            <a:r>
              <a:rPr lang="en-US" sz="1200" dirty="0">
                <a:solidFill>
                  <a:srgbClr val="9BABBC"/>
                </a:solidFill>
                <a:latin typeface="Calibri" pitchFamily="34" charset="0"/>
                <a:ea typeface="Calibri" pitchFamily="34" charset="-122"/>
                <a:cs typeface="Calibri" pitchFamily="34" charset="-120"/>
              </a:rPr>
              <a:t>Merchant verification for a pharmacy category takes weeks of calendar time and cannot be compressed by engineering. Starting it today keeps it off the critical path.</a:t>
            </a:r>
            <a:endParaRPr lang="en-US" sz="1200" dirty="0"/>
          </a:p>
        </p:txBody>
      </p:sp>
      <p:sp>
        <p:nvSpPr>
          <p:cNvPr id="9" name="Shape 6"/>
          <p:cNvSpPr/>
          <p:nvPr/>
        </p:nvSpPr>
        <p:spPr>
          <a:xfrm>
            <a:off x="1152144" y="2761488"/>
            <a:ext cx="10424160" cy="10973"/>
          </a:xfrm>
          <a:prstGeom prst="rect">
            <a:avLst/>
          </a:prstGeom>
          <a:solidFill>
            <a:srgbClr val="22384F"/>
          </a:solidFill>
          <a:ln w="12700">
            <a:solidFill>
              <a:srgbClr val="22384F"/>
            </a:solidFill>
            <a:prstDash val="solid"/>
          </a:ln>
        </p:spPr>
      </p:sp>
      <p:sp>
        <p:nvSpPr>
          <p:cNvPr id="10" name="Shape 7"/>
          <p:cNvSpPr/>
          <p:nvPr/>
        </p:nvSpPr>
        <p:spPr>
          <a:xfrm>
            <a:off x="548640" y="2926080"/>
            <a:ext cx="384048" cy="384048"/>
          </a:xfrm>
          <a:prstGeom prst="ellipse">
            <a:avLst/>
          </a:prstGeom>
          <a:solidFill>
            <a:srgbClr val="FC7800"/>
          </a:solidFill>
          <a:ln w="12700">
            <a:solidFill>
              <a:srgbClr val="FC7800"/>
            </a:solidFill>
            <a:prstDash val="solid"/>
          </a:ln>
        </p:spPr>
      </p:sp>
      <p:sp>
        <p:nvSpPr>
          <p:cNvPr id="11" name="Text 8"/>
          <p:cNvSpPr txBox="1"/>
          <p:nvPr/>
        </p:nvSpPr>
        <p:spPr>
          <a:xfrm>
            <a:off x="54864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9"/>
          <p:cNvSpPr txBox="1"/>
          <p:nvPr/>
        </p:nvSpPr>
        <p:spPr>
          <a:xfrm>
            <a:off x="1152144" y="2889504"/>
            <a:ext cx="640080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Confirm the regulatory position</a:t>
            </a:r>
            <a:endParaRPr lang="en-US" sz="1550" dirty="0"/>
          </a:p>
        </p:txBody>
      </p:sp>
      <p:sp>
        <p:nvSpPr>
          <p:cNvPr id="13" name="Text 10"/>
          <p:cNvSpPr txBox="1"/>
          <p:nvPr/>
        </p:nvSpPr>
        <p:spPr>
          <a:xfrm>
            <a:off x="1152144" y="3218688"/>
            <a:ext cx="10424160" cy="621792"/>
          </a:xfrm>
          <a:prstGeom prst="rect">
            <a:avLst/>
          </a:prstGeom>
          <a:noFill/>
          <a:ln/>
        </p:spPr>
        <p:txBody>
          <a:bodyPr wrap="square" lIns="0" tIns="0" rIns="0" bIns="0" rtlCol="0" anchor="ctr"/>
          <a:lstStyle/>
          <a:p>
            <a:pPr indent="0" marL="0">
              <a:lnSpc>
                <a:spcPts val="1600"/>
              </a:lnSpc>
              <a:buNone/>
            </a:pPr>
            <a:r>
              <a:rPr lang="en-US" sz="1200" dirty="0">
                <a:solidFill>
                  <a:srgbClr val="9BABBC"/>
                </a:solidFill>
                <a:latin typeface="Calibri" pitchFamily="34" charset="0"/>
                <a:ea typeface="Calibri" pitchFamily="34" charset="-122"/>
                <a:cs typeface="Calibri" pitchFamily="34" charset="-120"/>
              </a:rPr>
              <a:t>How long prescriptions must be retained, and which medicine schedules may not be sold online at all. Needs qualified sign-off before the prescription flow goes live.</a:t>
            </a:r>
            <a:endParaRPr lang="en-US" sz="1200" dirty="0"/>
          </a:p>
        </p:txBody>
      </p:sp>
      <p:sp>
        <p:nvSpPr>
          <p:cNvPr id="14" name="Shape 11"/>
          <p:cNvSpPr/>
          <p:nvPr/>
        </p:nvSpPr>
        <p:spPr>
          <a:xfrm>
            <a:off x="1152144" y="3822192"/>
            <a:ext cx="10424160" cy="10973"/>
          </a:xfrm>
          <a:prstGeom prst="rect">
            <a:avLst/>
          </a:prstGeom>
          <a:solidFill>
            <a:srgbClr val="22384F"/>
          </a:solidFill>
          <a:ln w="12700">
            <a:solidFill>
              <a:srgbClr val="22384F"/>
            </a:solidFill>
            <a:prstDash val="solid"/>
          </a:ln>
        </p:spPr>
      </p:sp>
      <p:sp>
        <p:nvSpPr>
          <p:cNvPr id="15" name="Shape 12"/>
          <p:cNvSpPr/>
          <p:nvPr/>
        </p:nvSpPr>
        <p:spPr>
          <a:xfrm>
            <a:off x="548640" y="3986784"/>
            <a:ext cx="384048" cy="384048"/>
          </a:xfrm>
          <a:prstGeom prst="ellipse">
            <a:avLst/>
          </a:prstGeom>
          <a:solidFill>
            <a:srgbClr val="FC7800"/>
          </a:solidFill>
          <a:ln w="12700">
            <a:solidFill>
              <a:srgbClr val="FC7800"/>
            </a:solidFill>
            <a:prstDash val="solid"/>
          </a:ln>
        </p:spPr>
      </p:sp>
      <p:sp>
        <p:nvSpPr>
          <p:cNvPr id="16" name="Text 13"/>
          <p:cNvSpPr txBox="1"/>
          <p:nvPr/>
        </p:nvSpPr>
        <p:spPr>
          <a:xfrm>
            <a:off x="548640" y="3986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7" name="Text 14"/>
          <p:cNvSpPr txBox="1"/>
          <p:nvPr/>
        </p:nvSpPr>
        <p:spPr>
          <a:xfrm>
            <a:off x="1152144" y="3950208"/>
            <a:ext cx="640080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Set cash-on-delivery policy</a:t>
            </a:r>
            <a:endParaRPr lang="en-US" sz="1550" dirty="0"/>
          </a:p>
        </p:txBody>
      </p:sp>
      <p:sp>
        <p:nvSpPr>
          <p:cNvPr id="18" name="Text 15"/>
          <p:cNvSpPr txBox="1"/>
          <p:nvPr/>
        </p:nvSpPr>
        <p:spPr>
          <a:xfrm>
            <a:off x="1152144" y="4279392"/>
            <a:ext cx="10424160" cy="621792"/>
          </a:xfrm>
          <a:prstGeom prst="rect">
            <a:avLst/>
          </a:prstGeom>
          <a:noFill/>
          <a:ln/>
        </p:spPr>
        <p:txBody>
          <a:bodyPr wrap="square" lIns="0" tIns="0" rIns="0" bIns="0" rtlCol="0" anchor="ctr"/>
          <a:lstStyle/>
          <a:p>
            <a:pPr indent="0" marL="0">
              <a:lnSpc>
                <a:spcPts val="1600"/>
              </a:lnSpc>
              <a:buNone/>
            </a:pPr>
            <a:r>
              <a:rPr lang="en-US" sz="1200" dirty="0">
                <a:solidFill>
                  <a:srgbClr val="9BABBC"/>
                </a:solidFill>
                <a:latin typeface="Calibri" pitchFamily="34" charset="0"/>
                <a:ea typeface="Calibri" pitchFamily="34" charset="-122"/>
                <a:cs typeface="Calibri" pitchFamily="34" charset="-120"/>
              </a:rPr>
              <a:t>Maximum order value payable in cash, and how refused deliveries are handled. These are commercial rules we will encode, not technical choices.</a:t>
            </a:r>
            <a:endParaRPr lang="en-US" sz="1200" dirty="0"/>
          </a:p>
        </p:txBody>
      </p:sp>
      <p:sp>
        <p:nvSpPr>
          <p:cNvPr id="19" name="Shape 16"/>
          <p:cNvSpPr/>
          <p:nvPr/>
        </p:nvSpPr>
        <p:spPr>
          <a:xfrm>
            <a:off x="1152144" y="4882896"/>
            <a:ext cx="10424160" cy="10973"/>
          </a:xfrm>
          <a:prstGeom prst="rect">
            <a:avLst/>
          </a:prstGeom>
          <a:solidFill>
            <a:srgbClr val="22384F"/>
          </a:solidFill>
          <a:ln w="12700">
            <a:solidFill>
              <a:srgbClr val="22384F"/>
            </a:solidFill>
            <a:prstDash val="solid"/>
          </a:ln>
        </p:spPr>
      </p:sp>
      <p:sp>
        <p:nvSpPr>
          <p:cNvPr id="20" name="Shape 17"/>
          <p:cNvSpPr/>
          <p:nvPr/>
        </p:nvSpPr>
        <p:spPr>
          <a:xfrm>
            <a:off x="548640" y="5047488"/>
            <a:ext cx="384048" cy="384048"/>
          </a:xfrm>
          <a:prstGeom prst="ellipse">
            <a:avLst/>
          </a:prstGeom>
          <a:solidFill>
            <a:srgbClr val="FC7800"/>
          </a:solidFill>
          <a:ln w="12700">
            <a:solidFill>
              <a:srgbClr val="FC7800"/>
            </a:solidFill>
            <a:prstDash val="solid"/>
          </a:ln>
        </p:spPr>
      </p:sp>
      <p:sp>
        <p:nvSpPr>
          <p:cNvPr id="21" name="Text 1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2" name="Text 19"/>
          <p:cNvSpPr txBox="1"/>
          <p:nvPr/>
        </p:nvSpPr>
        <p:spPr>
          <a:xfrm>
            <a:off x="1152144" y="5010912"/>
            <a:ext cx="640080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Approve the payment model</a:t>
            </a:r>
            <a:endParaRPr lang="en-US" sz="1550" dirty="0"/>
          </a:p>
        </p:txBody>
      </p:sp>
      <p:sp>
        <p:nvSpPr>
          <p:cNvPr id="23" name="Text 20"/>
          <p:cNvSpPr txBox="1"/>
          <p:nvPr/>
        </p:nvSpPr>
        <p:spPr>
          <a:xfrm>
            <a:off x="1152144" y="5340096"/>
            <a:ext cx="10424160" cy="621792"/>
          </a:xfrm>
          <a:prstGeom prst="rect">
            <a:avLst/>
          </a:prstGeom>
          <a:noFill/>
          <a:ln/>
        </p:spPr>
        <p:txBody>
          <a:bodyPr wrap="square" lIns="0" tIns="0" rIns="0" bIns="0" rtlCol="0" anchor="ctr"/>
          <a:lstStyle/>
          <a:p>
            <a:pPr indent="0" marL="0">
              <a:lnSpc>
                <a:spcPts val="1600"/>
              </a:lnSpc>
              <a:buNone/>
            </a:pPr>
            <a:r>
              <a:rPr lang="en-US" sz="1200" dirty="0">
                <a:solidFill>
                  <a:srgbClr val="9BABBC"/>
                </a:solidFill>
                <a:latin typeface="Calibri" pitchFamily="34" charset="0"/>
                <a:ea typeface="Calibri" pitchFamily="34" charset="-122"/>
                <a:cs typeface="Calibri" pitchFamily="34" charset="-120"/>
              </a:rPr>
              <a:t>Over-the-counter orders pay at checkout; prescription orders pay after pharmacist approval. This avoids refunds and holding money against unapproved medicine.</a:t>
            </a:r>
            <a:endParaRPr lang="en-US" sz="1200" dirty="0"/>
          </a:p>
        </p:txBody>
      </p:sp>
      <p:sp>
        <p:nvSpPr>
          <p:cNvPr id="24" name="Text 21"/>
          <p:cNvSpPr txBox="1"/>
          <p:nvPr/>
        </p:nvSpPr>
        <p:spPr>
          <a:xfrm>
            <a:off x="548640" y="6144768"/>
            <a:ext cx="10058400" cy="274320"/>
          </a:xfrm>
          <a:prstGeom prst="rect">
            <a:avLst/>
          </a:prstGeom>
          <a:noFill/>
          <a:ln/>
        </p:spPr>
        <p:txBody>
          <a:bodyPr wrap="square" lIns="0" tIns="0" rIns="0" bIns="0" rtlCol="0" anchor="ctr"/>
          <a:lstStyle/>
          <a:p>
            <a:pPr indent="0" marL="0">
              <a:buNone/>
            </a:pPr>
            <a:r>
              <a:rPr lang="en-US" sz="1100" dirty="0">
                <a:solidFill>
                  <a:srgbClr val="6D7F91"/>
                </a:solidFill>
                <a:latin typeface="Calibri" pitchFamily="34" charset="0"/>
                <a:ea typeface="Calibri" pitchFamily="34" charset="-122"/>
                <a:cs typeface="Calibri" pitchFamily="34" charset="-120"/>
              </a:rPr>
              <a:t>Detailed design and phasing are in the Checkout to Doorstep document.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Rebuild and Roadmap</dc:title>
  <dc:subject>PptxGenJS Presentation</dc:subject>
  <dc:creator>TnC Pharmacy Engineering</dc:creator>
  <cp:lastModifiedBy>TnC Pharmacy Engineering</cp:lastModifiedBy>
  <cp:revision>1</cp:revision>
  <dcterms:created xsi:type="dcterms:W3CDTF">2026-09-04T14:09:41Z</dcterms:created>
  <dcterms:modified xsi:type="dcterms:W3CDTF">2026-09-04T14:09:41Z</dcterms:modified>
</cp:coreProperties>
</file>